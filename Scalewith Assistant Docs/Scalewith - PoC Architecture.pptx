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7" r:id="rId2"/>
    <p:sldId id="271" r:id="rId3"/>
    <p:sldId id="2146847336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84C0"/>
    <a:srgbClr val="83A9F4"/>
    <a:srgbClr val="E0A84C"/>
    <a:srgbClr val="F4BB70"/>
    <a:srgbClr val="F4F4F4"/>
    <a:srgbClr val="8AB2FF"/>
    <a:srgbClr val="5DD7FF"/>
    <a:srgbClr val="FFD07D"/>
    <a:srgbClr val="76AFFD"/>
    <a:srgbClr val="EEC5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D5AAB5-C632-4C1B-BC01-DFC75B8C457A}" v="429" dt="2023-09-05T13:25:32.766"/>
    <p1510:client id="{EA20A7B2-3061-421A-B7E0-F3555BE9AEC5}" v="1110" dt="2023-09-04T20:48:28.3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55" autoAdjust="0"/>
    <p:restoredTop sz="95701"/>
  </p:normalViewPr>
  <p:slideViewPr>
    <p:cSldViewPr snapToGrid="0" snapToObjects="1">
      <p:cViewPr varScale="1">
        <p:scale>
          <a:sx n="128" d="100"/>
          <a:sy n="128" d="100"/>
        </p:scale>
        <p:origin x="7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2FB124D1-E98F-626E-41CF-A54B996779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A65CB07-9C6D-19C1-E48E-5C3DDF8D457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9F2154-09F6-45A2-977A-1C1114101389}" type="datetimeFigureOut">
              <a:rPr lang="pt-BR" smtClean="0"/>
              <a:t>25/10/2023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81F6E38-974E-37C8-326F-061B5756DF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pt-BR" dirty="0"/>
              <a:t>1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7926C3D-401C-AB1B-4575-BCC3B08CC70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3D10D4-0072-44F9-8918-C22C5FECE4C0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6378876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44A1DC-22E6-2748-A1DF-4C5CF861039B}" type="datetimeFigureOut">
              <a:rPr lang="pt-BR" smtClean="0"/>
              <a:t>25/10/2023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pt-BR" dirty="0"/>
              <a:t>1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495372-585D-8D48-816C-3AE7A5CD925D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3232555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5C6E7A-2A9A-8443-A792-184881908E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6EC3A74-0F2D-8546-8B80-34D4796492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C9A997-9CAF-D448-851D-F4631C1B1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7E8DC1-BFA4-D74C-BCFE-27DA70B75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4AADCF8-7842-AA4C-A8C4-35E7CB53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6C5D5-759D-254D-B87C-459FFD3008A6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86656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9A1225-4DCD-304C-B9B3-5163148F5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9F0C43-BF7B-964D-B186-5326EB335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4635B8-00DB-344F-8F85-43C609505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62870-1445-8144-B7B1-1976FEA59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8A0B75-D780-2342-A497-25AA95808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6C5D5-759D-254D-B87C-459FFD3008A6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16826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85A4BB-0AD2-FD44-9652-00EDC47E3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66F4DC7-C9AD-B444-9F75-9FB4E8950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9A1F49-3002-C440-8082-F2A2FF0B8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D0A1DA4-8BE9-BE43-9690-C8EAECC93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9CED81-273E-B948-BF16-184D627BD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6C5D5-759D-254D-B87C-459FFD3008A6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025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2FCEB2-3D87-0B44-89CE-1E973DC87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9F687D-E72E-C043-A7CC-38C11B16DD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D33565A-D4F5-AC41-8440-819F9D90A5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93CDA08-C3CA-7342-BB83-3554E7955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DF97E30-8C2A-5F4A-8946-9507BFFBD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F64F0C3-80BA-8A49-8751-F1C900EBF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6C5D5-759D-254D-B87C-459FFD3008A6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19640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6884C4-91A4-9146-B12F-DD9147FB9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A5F80A2-4695-CE43-91D1-03570B9B9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6EEDF4D-CF99-AE4B-A3B6-67EFB938FA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4355D5B-97F7-8248-A47C-6180DFEF35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F39A17E-8369-7C4E-8D87-82A40EEB0C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0C0E9E3-E78B-3944-A553-27D10F3BA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97AD1BD-D970-E94E-8EB5-5F02F2AAA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8EF2937-BEB0-8E4A-AB6A-4D5D3EC3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6C5D5-759D-254D-B87C-459FFD3008A6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57831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451482-510C-BF4D-A9C0-96B1EF102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6A5D675-2AF4-7246-84FB-6B265B5C3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0CF6D68-478A-1B41-8803-CFA0EB9B4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75A8217-637E-D245-A68A-232B74BE0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6C5D5-759D-254D-B87C-459FFD3008A6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97330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FE4225C-258A-0843-B556-2280DD691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7F659EF-C8ED-CC4E-AF27-AB8E610B8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788B978-11BB-DE4F-8082-EA173A734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6C5D5-759D-254D-B87C-459FFD3008A6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34102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0F0534-741F-484F-8395-862559AB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461090-C2C7-2649-ACFE-B0B48CDE7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7491D87-CDBC-8349-AF76-77D86D68BC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1B6F4C3-0839-CC46-BA5D-37810682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1B3A34D-74C5-5342-9D31-7ED36A100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8601E4B-EFED-E141-B6FF-3AB64F5AF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6C5D5-759D-254D-B87C-459FFD3008A6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51878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60FA61-E74D-9D49-947B-68D243502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F55C479-91D4-144B-9282-B63ABB0339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650984D-C66A-AA47-BAA6-EC798A8A56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BEF07E0-B0DD-FF45-9A7C-27AFABBB7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F1F6514-0617-3745-BF2F-EB04F407F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810EF2A-C3E6-4842-87C5-43F2CBBE0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6C5D5-759D-254D-B87C-459FFD3008A6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2690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5A2344-DD5F-8542-B2CE-D649B0866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806A3E4-6432-5044-B762-8A0CD59798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53D236-9925-C240-80CE-4774BA29B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31B52D-9ABE-A24E-ACF6-631420743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9EA6363-C72C-7145-8C63-769B852A1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6C5D5-759D-254D-B87C-459FFD3008A6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447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609FCE9-405C-2C45-BDC9-BB09321B49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D9C7AF5-BC04-594F-839C-1DCD587A04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F967BF9-D910-3947-A6A2-983CFF496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74AD8D-B8BE-B04C-86D4-7716E8C22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45B86F1-0B8E-0F4F-A99E-1DACBE997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6C5D5-759D-254D-B87C-459FFD3008A6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96432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6118789" y="2243580"/>
            <a:ext cx="3048000" cy="4614421"/>
          </a:xfrm>
          <a:solidFill>
            <a:schemeClr val="accent3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10"/>
          <p:cNvSpPr>
            <a:spLocks noGrp="1"/>
          </p:cNvSpPr>
          <p:nvPr>
            <p:ph sz="quarter" idx="18"/>
          </p:nvPr>
        </p:nvSpPr>
        <p:spPr>
          <a:xfrm>
            <a:off x="9155395" y="2243580"/>
            <a:ext cx="3048000" cy="4614421"/>
          </a:xfrm>
          <a:solidFill>
            <a:schemeClr val="accent3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3070791" y="2243579"/>
            <a:ext cx="3048000" cy="4614420"/>
          </a:xfrm>
          <a:solidFill>
            <a:schemeClr val="accent3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6"/>
          <p:cNvSpPr>
            <a:spLocks noGrp="1"/>
          </p:cNvSpPr>
          <p:nvPr>
            <p:ph sz="quarter" idx="20"/>
          </p:nvPr>
        </p:nvSpPr>
        <p:spPr>
          <a:xfrm>
            <a:off x="0" y="2243579"/>
            <a:ext cx="3048000" cy="4614420"/>
          </a:xfrm>
          <a:solidFill>
            <a:schemeClr val="accent3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5416" y="71393"/>
            <a:ext cx="12192000" cy="2172187"/>
          </a:xfrm>
          <a:solidFill>
            <a:schemeClr val="tx2"/>
          </a:solidFill>
        </p:spPr>
        <p:txBody>
          <a:bodyPr lIns="182880" tIns="137160" rIns="228600" bIns="228600"/>
          <a:lstStyle>
            <a:lvl1pPr>
              <a:lnSpc>
                <a:spcPts val="7200"/>
              </a:lnSpc>
              <a:defRPr sz="6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FBC05E3-BFBC-1042-908B-8935A5D68AAE}"/>
              </a:ext>
            </a:extLst>
          </p:cNvPr>
          <p:cNvGrpSpPr/>
          <p:nvPr userDrawn="1"/>
        </p:nvGrpSpPr>
        <p:grpSpPr>
          <a:xfrm>
            <a:off x="6118789" y="3707364"/>
            <a:ext cx="3013816" cy="2287037"/>
            <a:chOff x="4572000" y="242596"/>
            <a:chExt cx="2260362" cy="4253204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C410B0C-22E6-104D-A9BD-979C9F181A0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572000" y="242596"/>
              <a:ext cx="0" cy="4253204"/>
            </a:xfrm>
            <a:prstGeom prst="line">
              <a:avLst/>
            </a:prstGeom>
            <a:ln w="6350">
              <a:solidFill>
                <a:schemeClr val="bg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A626806-2181-514D-959F-CA9B19E77D8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832362" y="242596"/>
              <a:ext cx="0" cy="4253204"/>
            </a:xfrm>
            <a:prstGeom prst="line">
              <a:avLst/>
            </a:prstGeom>
            <a:ln w="6350">
              <a:solidFill>
                <a:schemeClr val="bg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65B14B5-A411-9F4C-8DC1-E71FB09456B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70788" y="3707364"/>
            <a:ext cx="0" cy="2287037"/>
          </a:xfrm>
          <a:prstGeom prst="line">
            <a:avLst/>
          </a:prstGeom>
          <a:ln w="6350"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219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8369B8D-074E-2447-AA8E-55B973361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7C13FB1-1F77-4243-8B04-AFD8A4A87B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132026-530E-504C-9FA5-777FA373C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0AA867E-C029-784A-AF54-40B2BFC6FA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24145A-3327-7C4E-A4AB-E2F7381A37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56C5D5-759D-254D-B87C-459FFD3008A6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48411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 descr="Uma imagem com texto, homem, pessoa&#10;&#10;Descrição gerada automaticamente">
            <a:extLst>
              <a:ext uri="{FF2B5EF4-FFF2-40B4-BE49-F238E27FC236}">
                <a16:creationId xmlns:a16="http://schemas.microsoft.com/office/drawing/2014/main" id="{B0226426-4A8E-EEAD-F5A6-AB2206036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0653" y="827314"/>
            <a:ext cx="7379367" cy="6030686"/>
          </a:xfrm>
          <a:prstGeom prst="rect">
            <a:avLst/>
          </a:prstGeom>
        </p:spPr>
      </p:pic>
      <p:sp>
        <p:nvSpPr>
          <p:cNvPr id="13" name="TextBox 18">
            <a:extLst>
              <a:ext uri="{FF2B5EF4-FFF2-40B4-BE49-F238E27FC236}">
                <a16:creationId xmlns:a16="http://schemas.microsoft.com/office/drawing/2014/main" id="{0231E3C4-2C80-2489-A251-C1DC192AAF51}"/>
              </a:ext>
            </a:extLst>
          </p:cNvPr>
          <p:cNvSpPr txBox="1"/>
          <p:nvPr/>
        </p:nvSpPr>
        <p:spPr>
          <a:xfrm>
            <a:off x="409079" y="328000"/>
            <a:ext cx="5825319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914621">
              <a:defRPr/>
            </a:pPr>
            <a:r>
              <a:rPr lang="en-US" sz="1200" dirty="0">
                <a:solidFill>
                  <a:srgbClr val="000000"/>
                </a:solidFill>
                <a:latin typeface="IBM Plex Sans Light"/>
              </a:rPr>
              <a:t>[Ecosystem Engineering | </a:t>
            </a:r>
            <a:r>
              <a:rPr lang="en-US" sz="1200" dirty="0">
                <a:solidFill>
                  <a:srgbClr val="000000"/>
                </a:solidFill>
                <a:latin typeface="IBM Plex Sans Medium"/>
              </a:rPr>
              <a:t>Build Lab Americas</a:t>
            </a:r>
            <a:r>
              <a:rPr lang="en-US" sz="1200" dirty="0">
                <a:solidFill>
                  <a:srgbClr val="000000"/>
                </a:solidFill>
                <a:latin typeface="IBM Plex Sans Light"/>
              </a:rPr>
              <a:t>]</a:t>
            </a:r>
          </a:p>
        </p:txBody>
      </p:sp>
      <p:sp>
        <p:nvSpPr>
          <p:cNvPr id="15" name="TextBox 18">
            <a:extLst>
              <a:ext uri="{FF2B5EF4-FFF2-40B4-BE49-F238E27FC236}">
                <a16:creationId xmlns:a16="http://schemas.microsoft.com/office/drawing/2014/main" id="{8234BB89-40CA-FAFD-0734-91635B9D6C0E}"/>
              </a:ext>
            </a:extLst>
          </p:cNvPr>
          <p:cNvSpPr txBox="1"/>
          <p:nvPr/>
        </p:nvSpPr>
        <p:spPr>
          <a:xfrm>
            <a:off x="409079" y="1317752"/>
            <a:ext cx="4293550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914621">
              <a:defRPr/>
            </a:pPr>
            <a:r>
              <a:rPr lang="en-US" sz="4000" dirty="0" err="1">
                <a:solidFill>
                  <a:srgbClr val="000000"/>
                </a:solidFill>
                <a:latin typeface="IBM Plex Sans Light"/>
              </a:rPr>
              <a:t>Scalewith</a:t>
            </a:r>
            <a:r>
              <a:rPr lang="en-US" sz="4000" dirty="0">
                <a:solidFill>
                  <a:srgbClr val="000000"/>
                </a:solidFill>
                <a:latin typeface="IBM Plex Sans Light"/>
              </a:rPr>
              <a:t> PoC</a:t>
            </a:r>
            <a:br>
              <a:rPr lang="en-US" sz="4000" dirty="0">
                <a:latin typeface="IBM Plex Sans Light" panose="020B0403050203000203" pitchFamily="34" charset="0"/>
              </a:rPr>
            </a:br>
            <a:r>
              <a:rPr lang="en-US" sz="4000" dirty="0">
                <a:latin typeface="IBM Plex Sans Light" panose="020B0403050203000203" pitchFamily="34" charset="0"/>
              </a:rPr>
              <a:t>Architecture</a:t>
            </a:r>
            <a:endParaRPr lang="en-US" sz="4000" dirty="0">
              <a:solidFill>
                <a:srgbClr val="000000"/>
              </a:solidFill>
              <a:latin typeface="IBM Plex Sans Light"/>
            </a:endParaRPr>
          </a:p>
        </p:txBody>
      </p:sp>
      <p:sp>
        <p:nvSpPr>
          <p:cNvPr id="17" name="TextBox 18">
            <a:extLst>
              <a:ext uri="{FF2B5EF4-FFF2-40B4-BE49-F238E27FC236}">
                <a16:creationId xmlns:a16="http://schemas.microsoft.com/office/drawing/2014/main" id="{89993C23-A3C9-F09A-7A1C-E1542AEF1625}"/>
              </a:ext>
            </a:extLst>
          </p:cNvPr>
          <p:cNvSpPr txBox="1"/>
          <p:nvPr/>
        </p:nvSpPr>
        <p:spPr>
          <a:xfrm>
            <a:off x="409079" y="3429000"/>
            <a:ext cx="4116268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914621">
              <a:defRPr/>
            </a:pPr>
            <a:r>
              <a:rPr lang="en-US" sz="2400" dirty="0">
                <a:solidFill>
                  <a:srgbClr val="000000"/>
                </a:solidFill>
                <a:latin typeface="IBM Plex Sans SemiBold"/>
                <a:cs typeface="Arial"/>
              </a:rPr>
              <a:t>ScaleWith</a:t>
            </a:r>
          </a:p>
          <a:p>
            <a:pPr defTabSz="914621">
              <a:defRPr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IBM Plex Sans Light" panose="020B0403050203000203" pitchFamily="34" charset="0"/>
              </a:rPr>
              <a:t>S</a:t>
            </a:r>
            <a:r>
              <a:rPr lang="en-US" sz="2400" b="0" i="0" u="none" strike="noStrike" dirty="0">
                <a:solidFill>
                  <a:srgbClr val="1D1D1D"/>
                </a:solidFill>
                <a:effectLst/>
                <a:latin typeface="Calibri" panose="020F0502020204030204" pitchFamily="34" charset="0"/>
              </a:rPr>
              <a:t>ocial </a:t>
            </a:r>
            <a:r>
              <a:rPr lang="en-US" sz="2400" dirty="0">
                <a:solidFill>
                  <a:srgbClr val="1D1D1D"/>
                </a:solidFill>
                <a:latin typeface="Calibri" panose="020F0502020204030204" pitchFamily="34" charset="0"/>
              </a:rPr>
              <a:t>I</a:t>
            </a:r>
            <a:r>
              <a:rPr lang="en-US" sz="2400" b="0" i="0" u="none" strike="noStrike" dirty="0">
                <a:solidFill>
                  <a:srgbClr val="1D1D1D"/>
                </a:solidFill>
                <a:effectLst/>
                <a:latin typeface="Calibri" panose="020F0502020204030204" pitchFamily="34" charset="0"/>
              </a:rPr>
              <a:t>mpact AI</a:t>
            </a:r>
            <a:endParaRPr lang="en-US" sz="2400" dirty="0">
              <a:solidFill>
                <a:srgbClr val="000000"/>
              </a:solidFill>
              <a:latin typeface="IBM Plex Sans Light" panose="020B0403050203000203" pitchFamily="34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F1A966B-FB5F-3A2B-B055-3B93473C4563}"/>
              </a:ext>
            </a:extLst>
          </p:cNvPr>
          <p:cNvSpPr txBox="1"/>
          <p:nvPr/>
        </p:nvSpPr>
        <p:spPr>
          <a:xfrm>
            <a:off x="4788568" y="348915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pic>
        <p:nvPicPr>
          <p:cNvPr id="3" name="Picture 2" descr="IBM Logo – PNG e Vetor – Download de Logo">
            <a:extLst>
              <a:ext uri="{FF2B5EF4-FFF2-40B4-BE49-F238E27FC236}">
                <a16:creationId xmlns:a16="http://schemas.microsoft.com/office/drawing/2014/main" id="{A58E76B9-AD1A-584A-D150-728AA36431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437" y="5755977"/>
            <a:ext cx="1239429" cy="499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Agrupar 3">
            <a:extLst>
              <a:ext uri="{FF2B5EF4-FFF2-40B4-BE49-F238E27FC236}">
                <a16:creationId xmlns:a16="http://schemas.microsoft.com/office/drawing/2014/main" id="{7AA21773-7B52-A2AA-4B66-1EB92B073595}"/>
              </a:ext>
            </a:extLst>
          </p:cNvPr>
          <p:cNvGrpSpPr/>
          <p:nvPr/>
        </p:nvGrpSpPr>
        <p:grpSpPr>
          <a:xfrm>
            <a:off x="5826643" y="6490583"/>
            <a:ext cx="538715" cy="109963"/>
            <a:chOff x="5826642" y="1888957"/>
            <a:chExt cx="538715" cy="109963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C3CACD0B-6CAF-5B5C-CA0F-8E59DA3F06D9}"/>
                </a:ext>
              </a:extLst>
            </p:cNvPr>
            <p:cNvSpPr/>
            <p:nvPr/>
          </p:nvSpPr>
          <p:spPr>
            <a:xfrm>
              <a:off x="5826642" y="1888957"/>
              <a:ext cx="109963" cy="109963"/>
            </a:xfrm>
            <a:prstGeom prst="rect">
              <a:avLst/>
            </a:prstGeom>
            <a:solidFill>
              <a:srgbClr val="83A9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EB50F367-3F1C-C196-4409-F7126624A216}"/>
                </a:ext>
              </a:extLst>
            </p:cNvPr>
            <p:cNvSpPr/>
            <p:nvPr/>
          </p:nvSpPr>
          <p:spPr>
            <a:xfrm>
              <a:off x="6041018" y="1888957"/>
              <a:ext cx="109963" cy="109963"/>
            </a:xfrm>
            <a:prstGeom prst="rect">
              <a:avLst/>
            </a:prstGeom>
            <a:solidFill>
              <a:srgbClr val="B8DC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110E198C-3497-FCC9-9198-D7DFB93CE451}"/>
                </a:ext>
              </a:extLst>
            </p:cNvPr>
            <p:cNvSpPr/>
            <p:nvPr/>
          </p:nvSpPr>
          <p:spPr>
            <a:xfrm>
              <a:off x="6255394" y="1888957"/>
              <a:ext cx="109963" cy="109963"/>
            </a:xfrm>
            <a:prstGeom prst="rect">
              <a:avLst/>
            </a:prstGeom>
            <a:solidFill>
              <a:srgbClr val="E0A8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18" name="Espaço Reservado para Número de Slide 17">
            <a:extLst>
              <a:ext uri="{FF2B5EF4-FFF2-40B4-BE49-F238E27FC236}">
                <a16:creationId xmlns:a16="http://schemas.microsoft.com/office/drawing/2014/main" id="{989D1C5F-13BF-224B-521F-BBDD3098F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6C5D5-759D-254D-B87C-459FFD3008A6}" type="slidenum">
              <a:rPr lang="pt-BR" smtClean="0"/>
              <a:t>1</a:t>
            </a:fld>
            <a:endParaRPr lang="pt-BR" dirty="0"/>
          </a:p>
        </p:txBody>
      </p:sp>
      <p:pic>
        <p:nvPicPr>
          <p:cNvPr id="2" name="Picture 2" descr="ScaleWith">
            <a:extLst>
              <a:ext uri="{FF2B5EF4-FFF2-40B4-BE49-F238E27FC236}">
                <a16:creationId xmlns:a16="http://schemas.microsoft.com/office/drawing/2014/main" id="{58284419-C4D6-ED79-A3EA-82D7F0B7F7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285" y="3032642"/>
            <a:ext cx="2889685" cy="80269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2150220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FDAAB856-062C-5802-8FE4-7A346C89212F}"/>
              </a:ext>
            </a:extLst>
          </p:cNvPr>
          <p:cNvGrpSpPr/>
          <p:nvPr/>
        </p:nvGrpSpPr>
        <p:grpSpPr>
          <a:xfrm>
            <a:off x="2377695" y="4359868"/>
            <a:ext cx="795655" cy="1239768"/>
            <a:chOff x="2651003" y="917448"/>
            <a:chExt cx="685800" cy="1044268"/>
          </a:xfrm>
        </p:grpSpPr>
        <p:pic>
          <p:nvPicPr>
            <p:cNvPr id="44" name="Picture 2">
              <a:extLst>
                <a:ext uri="{FF2B5EF4-FFF2-40B4-BE49-F238E27FC236}">
                  <a16:creationId xmlns:a16="http://schemas.microsoft.com/office/drawing/2014/main" id="{6DD7DCB8-566D-F9FE-5F74-A113ED17C5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1003" y="917448"/>
              <a:ext cx="685800" cy="685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A1773DE-125F-158B-CBDA-2FEE45884BF7}"/>
                </a:ext>
              </a:extLst>
            </p:cNvPr>
            <p:cNvSpPr txBox="1"/>
            <p:nvPr/>
          </p:nvSpPr>
          <p:spPr>
            <a:xfrm>
              <a:off x="2705325" y="1624700"/>
              <a:ext cx="617888" cy="3370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>
                  <a:latin typeface="IBM Plex Sans" panose="020B0503050203000203" pitchFamily="34" charset="0"/>
                </a:rPr>
                <a:t>Watson </a:t>
              </a:r>
            </a:p>
            <a:p>
              <a:pPr algn="ctr"/>
              <a:r>
                <a:rPr lang="en-US" sz="1000" dirty="0">
                  <a:latin typeface="IBM Plex Sans" panose="020B0503050203000203" pitchFamily="34" charset="0"/>
                </a:rPr>
                <a:t>Assistant</a:t>
              </a:r>
            </a:p>
          </p:txBody>
        </p:sp>
      </p:grp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D42F3225-0E16-182C-3D6B-1194DCF5B83D}"/>
              </a:ext>
            </a:extLst>
          </p:cNvPr>
          <p:cNvCxnSpPr>
            <a:cxnSpLocks/>
          </p:cNvCxnSpPr>
          <p:nvPr/>
        </p:nvCxnSpPr>
        <p:spPr>
          <a:xfrm flipH="1" flipV="1">
            <a:off x="2644856" y="3610011"/>
            <a:ext cx="1460" cy="749857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angle 97">
            <a:extLst>
              <a:ext uri="{FF2B5EF4-FFF2-40B4-BE49-F238E27FC236}">
                <a16:creationId xmlns:a16="http://schemas.microsoft.com/office/drawing/2014/main" id="{056647C2-BB66-7605-C6D9-02643F553045}"/>
              </a:ext>
            </a:extLst>
          </p:cNvPr>
          <p:cNvSpPr/>
          <p:nvPr/>
        </p:nvSpPr>
        <p:spPr bwMode="auto">
          <a:xfrm>
            <a:off x="1125020" y="1298924"/>
            <a:ext cx="917419" cy="455947"/>
          </a:xfrm>
          <a:prstGeom prst="rect">
            <a:avLst/>
          </a:prstGeom>
          <a:solidFill>
            <a:srgbClr val="24A148"/>
          </a:solidFill>
          <a:ln w="19050">
            <a:solidFill>
              <a:srgbClr val="24A148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bg1"/>
                </a:solidFill>
              </a:rPr>
              <a:t>Model A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D6FE6537-32F9-26C5-37A4-B543B12D218D}"/>
              </a:ext>
            </a:extLst>
          </p:cNvPr>
          <p:cNvSpPr/>
          <p:nvPr/>
        </p:nvSpPr>
        <p:spPr bwMode="auto">
          <a:xfrm>
            <a:off x="2336948" y="1298924"/>
            <a:ext cx="917419" cy="455947"/>
          </a:xfrm>
          <a:prstGeom prst="rect">
            <a:avLst/>
          </a:prstGeom>
          <a:solidFill>
            <a:srgbClr val="24A148"/>
          </a:solidFill>
          <a:ln w="19050">
            <a:solidFill>
              <a:srgbClr val="24A148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bg1"/>
                </a:solidFill>
              </a:rPr>
              <a:t>Model B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7B38206E-B717-81A4-7519-89D6B16BE62E}"/>
              </a:ext>
            </a:extLst>
          </p:cNvPr>
          <p:cNvSpPr/>
          <p:nvPr/>
        </p:nvSpPr>
        <p:spPr bwMode="auto">
          <a:xfrm>
            <a:off x="3606561" y="1296579"/>
            <a:ext cx="917419" cy="455947"/>
          </a:xfrm>
          <a:prstGeom prst="rect">
            <a:avLst/>
          </a:prstGeom>
          <a:solidFill>
            <a:srgbClr val="24A148"/>
          </a:solidFill>
          <a:ln w="19050">
            <a:solidFill>
              <a:srgbClr val="24A148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bg1"/>
                </a:solidFill>
              </a:rPr>
              <a:t>Model C</a:t>
            </a:r>
          </a:p>
        </p:txBody>
      </p:sp>
      <p:pic>
        <p:nvPicPr>
          <p:cNvPr id="120" name="Picture 12">
            <a:extLst>
              <a:ext uri="{FF2B5EF4-FFF2-40B4-BE49-F238E27FC236}">
                <a16:creationId xmlns:a16="http://schemas.microsoft.com/office/drawing/2014/main" id="{D851029F-D740-0260-BD22-6E5AA5EBA2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931" y="4479463"/>
            <a:ext cx="480445" cy="592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AECB51C6-4EA5-73FC-71D8-7CCE91250485}"/>
              </a:ext>
            </a:extLst>
          </p:cNvPr>
          <p:cNvCxnSpPr>
            <a:cxnSpLocks/>
          </p:cNvCxnSpPr>
          <p:nvPr/>
        </p:nvCxnSpPr>
        <p:spPr>
          <a:xfrm flipV="1">
            <a:off x="1090314" y="4654979"/>
            <a:ext cx="1282319" cy="8965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2B441773-A382-0B85-EB5F-CD4EFF98E5A1}"/>
              </a:ext>
            </a:extLst>
          </p:cNvPr>
          <p:cNvGrpSpPr/>
          <p:nvPr/>
        </p:nvGrpSpPr>
        <p:grpSpPr>
          <a:xfrm>
            <a:off x="6273764" y="2682560"/>
            <a:ext cx="795654" cy="1218979"/>
            <a:chOff x="7650937" y="2941760"/>
            <a:chExt cx="685800" cy="1026757"/>
          </a:xfrm>
        </p:grpSpPr>
        <p:pic>
          <p:nvPicPr>
            <p:cNvPr id="129" name="Picture 4">
              <a:extLst>
                <a:ext uri="{FF2B5EF4-FFF2-40B4-BE49-F238E27FC236}">
                  <a16:creationId xmlns:a16="http://schemas.microsoft.com/office/drawing/2014/main" id="{18FBDB64-0CDA-5479-97D5-AC66C846BE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50937" y="2941760"/>
              <a:ext cx="685800" cy="685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F63FBFF1-BB28-60C5-F3BE-4DFCF39CFFD0}"/>
                </a:ext>
              </a:extLst>
            </p:cNvPr>
            <p:cNvSpPr txBox="1"/>
            <p:nvPr/>
          </p:nvSpPr>
          <p:spPr>
            <a:xfrm>
              <a:off x="7687619" y="3631501"/>
              <a:ext cx="642758" cy="3370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>
                  <a:latin typeface="IBM Plex Sans" panose="020B0503050203000203" pitchFamily="34" charset="0"/>
                </a:rPr>
                <a:t>Watson</a:t>
              </a:r>
            </a:p>
            <a:p>
              <a:pPr algn="ctr"/>
              <a:r>
                <a:rPr lang="en-US" sz="1000" dirty="0">
                  <a:latin typeface="IBM Plex Sans" panose="020B0503050203000203" pitchFamily="34" charset="0"/>
                </a:rPr>
                <a:t>Discovery</a:t>
              </a:r>
            </a:p>
          </p:txBody>
        </p:sp>
      </p:grp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8FAE5A1F-1AC8-6EB0-1AB6-EC4856C7F656}"/>
              </a:ext>
            </a:extLst>
          </p:cNvPr>
          <p:cNvCxnSpPr>
            <a:cxnSpLocks/>
          </p:cNvCxnSpPr>
          <p:nvPr/>
        </p:nvCxnSpPr>
        <p:spPr>
          <a:xfrm>
            <a:off x="5624226" y="3008740"/>
            <a:ext cx="649538" cy="231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Elbow Connector 138">
            <a:extLst>
              <a:ext uri="{FF2B5EF4-FFF2-40B4-BE49-F238E27FC236}">
                <a16:creationId xmlns:a16="http://schemas.microsoft.com/office/drawing/2014/main" id="{64047390-E391-85AC-EDBC-077F1044CE0A}"/>
              </a:ext>
            </a:extLst>
          </p:cNvPr>
          <p:cNvCxnSpPr>
            <a:cxnSpLocks/>
          </p:cNvCxnSpPr>
          <p:nvPr/>
        </p:nvCxnSpPr>
        <p:spPr>
          <a:xfrm flipV="1">
            <a:off x="3083505" y="3008400"/>
            <a:ext cx="2083521" cy="131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FE798298-2A8C-9F16-6167-7BC2B69A576F}"/>
              </a:ext>
            </a:extLst>
          </p:cNvPr>
          <p:cNvSpPr txBox="1"/>
          <p:nvPr/>
        </p:nvSpPr>
        <p:spPr>
          <a:xfrm>
            <a:off x="2251137" y="3363790"/>
            <a:ext cx="1045852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dirty="0" err="1">
                <a:latin typeface="IBM Plex Sans" panose="020B0503050203000203" pitchFamily="34" charset="0"/>
              </a:rPr>
              <a:t>watsonx.ai</a:t>
            </a:r>
            <a:endParaRPr lang="en-US" sz="1000" dirty="0">
              <a:latin typeface="IBM Plex Sans" panose="020B0503050203000203" pitchFamily="34" charset="0"/>
            </a:endParaRPr>
          </a:p>
        </p:txBody>
      </p:sp>
      <p:cxnSp>
        <p:nvCxnSpPr>
          <p:cNvPr id="171" name="Elbow Connector 170">
            <a:extLst>
              <a:ext uri="{FF2B5EF4-FFF2-40B4-BE49-F238E27FC236}">
                <a16:creationId xmlns:a16="http://schemas.microsoft.com/office/drawing/2014/main" id="{42A22DAA-BBB5-CAA2-AADD-61B3FF0D6211}"/>
              </a:ext>
            </a:extLst>
          </p:cNvPr>
          <p:cNvCxnSpPr>
            <a:cxnSpLocks/>
            <a:stCxn id="98" idx="2"/>
            <a:endCxn id="8" idx="0"/>
          </p:cNvCxnSpPr>
          <p:nvPr/>
        </p:nvCxnSpPr>
        <p:spPr>
          <a:xfrm rot="16200000" flipH="1">
            <a:off x="1664263" y="1674337"/>
            <a:ext cx="1049917" cy="1210983"/>
          </a:xfrm>
          <a:prstGeom prst="bentConnector3">
            <a:avLst/>
          </a:prstGeom>
          <a:ln w="12700">
            <a:solidFill>
              <a:schemeClr val="tx1"/>
            </a:solidFill>
            <a:prstDash val="dash"/>
            <a:headEnd type="stealt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Elbow Connector 171">
            <a:extLst>
              <a:ext uri="{FF2B5EF4-FFF2-40B4-BE49-F238E27FC236}">
                <a16:creationId xmlns:a16="http://schemas.microsoft.com/office/drawing/2014/main" id="{B2D9D6FA-EE2C-45AE-D827-9817B84A36FC}"/>
              </a:ext>
            </a:extLst>
          </p:cNvPr>
          <p:cNvCxnSpPr>
            <a:cxnSpLocks/>
            <a:stCxn id="105" idx="2"/>
            <a:endCxn id="8" idx="0"/>
          </p:cNvCxnSpPr>
          <p:nvPr/>
        </p:nvCxnSpPr>
        <p:spPr>
          <a:xfrm rot="5400000">
            <a:off x="2903861" y="1643378"/>
            <a:ext cx="1052262" cy="127055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dash"/>
            <a:headEnd type="arrow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6ABFCE28-F4CB-8A09-51C1-2423264D77AA}"/>
              </a:ext>
            </a:extLst>
          </p:cNvPr>
          <p:cNvCxnSpPr>
            <a:cxnSpLocks/>
            <a:stCxn id="103" idx="2"/>
            <a:endCxn id="8" idx="0"/>
          </p:cNvCxnSpPr>
          <p:nvPr/>
        </p:nvCxnSpPr>
        <p:spPr>
          <a:xfrm flipH="1">
            <a:off x="2794713" y="1754871"/>
            <a:ext cx="945" cy="1049917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Services Icon Png #65899 - Free Icons Library">
            <a:extLst>
              <a:ext uri="{FF2B5EF4-FFF2-40B4-BE49-F238E27FC236}">
                <a16:creationId xmlns:a16="http://schemas.microsoft.com/office/drawing/2014/main" id="{74000E57-B370-FDBC-B3B4-4C24F7045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7026" y="2860825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560D13B-95C2-96E9-EFF9-71B405423D81}"/>
              </a:ext>
            </a:extLst>
          </p:cNvPr>
          <p:cNvSpPr txBox="1"/>
          <p:nvPr/>
        </p:nvSpPr>
        <p:spPr>
          <a:xfrm>
            <a:off x="4897364" y="3318764"/>
            <a:ext cx="1045852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dirty="0">
                <a:latin typeface="IBM Plex Sans" panose="020B0503050203000203" pitchFamily="34" charset="0"/>
              </a:rPr>
              <a:t>Scheduled Service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3F98E7-8F50-2C41-86AC-A66D93FDF0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5921" y="2804788"/>
            <a:ext cx="577584" cy="5718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2707E1-34DF-D351-8E70-01274B27705A}"/>
              </a:ext>
            </a:extLst>
          </p:cNvPr>
          <p:cNvSpPr txBox="1">
            <a:spLocks/>
          </p:cNvSpPr>
          <p:nvPr/>
        </p:nvSpPr>
        <p:spPr>
          <a:xfrm>
            <a:off x="125057" y="175136"/>
            <a:ext cx="4169134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 defTabSz="914621">
              <a:defRPr sz="2400">
                <a:solidFill>
                  <a:srgbClr val="000000"/>
                </a:solidFill>
                <a:latin typeface="IBM Plex Sans Light" panose="020B0403050203000203" pitchFamily="34" charset="0"/>
              </a:defRPr>
            </a:lvl1pPr>
          </a:lstStyle>
          <a:p>
            <a:pPr>
              <a:spcBef>
                <a:spcPts val="600"/>
              </a:spcBef>
            </a:pPr>
            <a:r>
              <a:rPr lang="en-US" b="1" dirty="0">
                <a:latin typeface="IBM Plex Sans SemiBold" panose="020B0503050203000203" pitchFamily="34" charset="0"/>
              </a:rPr>
              <a:t>Revised PoC Architecture</a:t>
            </a:r>
          </a:p>
        </p:txBody>
      </p:sp>
      <p:graphicFrame>
        <p:nvGraphicFramePr>
          <p:cNvPr id="9" name="Table 263">
            <a:extLst>
              <a:ext uri="{FF2B5EF4-FFF2-40B4-BE49-F238E27FC236}">
                <a16:creationId xmlns:a16="http://schemas.microsoft.com/office/drawing/2014/main" id="{51459232-B23E-D3A8-19B9-58D519727D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766595"/>
              </p:ext>
            </p:extLst>
          </p:nvPr>
        </p:nvGraphicFramePr>
        <p:xfrm>
          <a:off x="7531675" y="1964148"/>
          <a:ext cx="4367599" cy="3065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679">
                  <a:extLst>
                    <a:ext uri="{9D8B030D-6E8A-4147-A177-3AD203B41FA5}">
                      <a16:colId xmlns:a16="http://schemas.microsoft.com/office/drawing/2014/main" val="1490574793"/>
                    </a:ext>
                  </a:extLst>
                </a:gridCol>
                <a:gridCol w="3911920">
                  <a:extLst>
                    <a:ext uri="{9D8B030D-6E8A-4147-A177-3AD203B41FA5}">
                      <a16:colId xmlns:a16="http://schemas.microsoft.com/office/drawing/2014/main" val="4066168642"/>
                    </a:ext>
                  </a:extLst>
                </a:gridCol>
              </a:tblGrid>
              <a:tr h="235785"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S#</a:t>
                      </a:r>
                    </a:p>
                  </a:txBody>
                  <a:tcPr marT="25807" marB="25807">
                    <a:lnL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IBM Plex Sans" panose="020B0503050203000203" pitchFamily="34" charset="0"/>
                        </a:rPr>
                        <a:t>Stage 1 RAG</a:t>
                      </a:r>
                    </a:p>
                  </a:txBody>
                  <a:tcPr marT="25807" marB="25807">
                    <a:lnL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2267662"/>
                  </a:ext>
                </a:extLst>
              </a:tr>
              <a:tr h="235785"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 marT="25807" marB="25807">
                    <a:lnL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Stage 1 search retrieval</a:t>
                      </a:r>
                    </a:p>
                  </a:txBody>
                  <a:tcPr marT="25807" marB="25807">
                    <a:lnL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8362528"/>
                  </a:ext>
                </a:extLst>
              </a:tr>
              <a:tr h="235785">
                <a:tc>
                  <a:txBody>
                    <a:bodyPr/>
                    <a:lstStyle/>
                    <a:p>
                      <a:r>
                        <a:rPr lang="en-US" sz="1100" dirty="0"/>
                        <a:t>2</a:t>
                      </a:r>
                    </a:p>
                  </a:txBody>
                  <a:tcPr marT="25807" marB="25807">
                    <a:lnL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Invoke LLM for mapping inference </a:t>
                      </a:r>
                    </a:p>
                  </a:txBody>
                  <a:tcPr marT="25807" marB="25807">
                    <a:lnL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8692847"/>
                  </a:ext>
                </a:extLst>
              </a:tr>
              <a:tr h="235785"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T="25807" marB="25807">
                    <a:lnL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Use the most suite model for the task</a:t>
                      </a:r>
                    </a:p>
                  </a:txBody>
                  <a:tcPr marT="25807" marB="25807">
                    <a:lnL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1729418"/>
                  </a:ext>
                </a:extLst>
              </a:tr>
              <a:tr h="235785">
                <a:tc>
                  <a:txBody>
                    <a:bodyPr/>
                    <a:lstStyle/>
                    <a:p>
                      <a:r>
                        <a:rPr lang="en-US" sz="1100" dirty="0"/>
                        <a:t>4</a:t>
                      </a:r>
                    </a:p>
                  </a:txBody>
                  <a:tcPr marT="25807" marB="25807">
                    <a:lnL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Model response received by the service</a:t>
                      </a:r>
                    </a:p>
                  </a:txBody>
                  <a:tcPr marT="25807" marB="25807">
                    <a:lnL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4075102"/>
                  </a:ext>
                </a:extLst>
              </a:tr>
              <a:tr h="235785">
                <a:tc>
                  <a:txBody>
                    <a:bodyPr/>
                    <a:lstStyle/>
                    <a:p>
                      <a:r>
                        <a:rPr lang="en-US" sz="1100" dirty="0"/>
                        <a:t>5</a:t>
                      </a:r>
                    </a:p>
                  </a:txBody>
                  <a:tcPr marT="25807" marB="25807">
                    <a:lnL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New document with sufficient enrichment posted into Discovery</a:t>
                      </a:r>
                    </a:p>
                  </a:txBody>
                  <a:tcPr marT="25807" marB="25807">
                    <a:lnL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7833526"/>
                  </a:ext>
                </a:extLst>
              </a:tr>
              <a:tr h="235785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T="25807" marB="25807">
                    <a:lnL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solidFill>
                      <a:srgbClr val="5884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IBM Plex Sans" panose="020B0503050203000203" pitchFamily="34" charset="0"/>
                        </a:rPr>
                        <a:t>Stage 2 RAG (Conversation Search)</a:t>
                      </a:r>
                    </a:p>
                  </a:txBody>
                  <a:tcPr marT="25807" marB="25807">
                    <a:lnL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solidFill>
                      <a:srgbClr val="5884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851992"/>
                  </a:ext>
                </a:extLst>
              </a:tr>
              <a:tr h="235785">
                <a:tc>
                  <a:txBody>
                    <a:bodyPr/>
                    <a:lstStyle/>
                    <a:p>
                      <a:r>
                        <a:rPr lang="en-US" sz="1100" dirty="0"/>
                        <a:t>6</a:t>
                      </a:r>
                    </a:p>
                  </a:txBody>
                  <a:tcPr marT="25807" marB="25807">
                    <a:lnL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Questions from </a:t>
                      </a:r>
                      <a:r>
                        <a:rPr lang="en-US" sz="1100" dirty="0" err="1"/>
                        <a:t>Scalewith</a:t>
                      </a:r>
                      <a:r>
                        <a:rPr lang="en-US" sz="1100" dirty="0"/>
                        <a:t> customers</a:t>
                      </a:r>
                    </a:p>
                  </a:txBody>
                  <a:tcPr marT="25807" marB="25807">
                    <a:lnL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1687595"/>
                  </a:ext>
                </a:extLst>
              </a:tr>
              <a:tr h="235785">
                <a:tc>
                  <a:txBody>
                    <a:bodyPr/>
                    <a:lstStyle/>
                    <a:p>
                      <a:r>
                        <a:rPr lang="en-US" sz="1100" dirty="0"/>
                        <a:t>7</a:t>
                      </a:r>
                    </a:p>
                  </a:txBody>
                  <a:tcPr marT="25807" marB="25807">
                    <a:lnL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Stage 2 search retrieval</a:t>
                      </a:r>
                    </a:p>
                  </a:txBody>
                  <a:tcPr marT="25807" marB="25807">
                    <a:lnL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376917"/>
                  </a:ext>
                </a:extLst>
              </a:tr>
              <a:tr h="235785">
                <a:tc>
                  <a:txBody>
                    <a:bodyPr/>
                    <a:lstStyle/>
                    <a:p>
                      <a:r>
                        <a:rPr lang="en-US" sz="1100" dirty="0"/>
                        <a:t>8</a:t>
                      </a:r>
                    </a:p>
                  </a:txBody>
                  <a:tcPr marT="25807" marB="25807">
                    <a:lnL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Invoke LLM for mapping inference </a:t>
                      </a:r>
                    </a:p>
                  </a:txBody>
                  <a:tcPr marT="25807" marB="25807">
                    <a:lnL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9381091"/>
                  </a:ext>
                </a:extLst>
              </a:tr>
              <a:tr h="235785"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T="25807" marB="25807">
                    <a:lnL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Assistant uses its embedded LLM </a:t>
                      </a:r>
                    </a:p>
                  </a:txBody>
                  <a:tcPr marT="25807" marB="25807">
                    <a:lnL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2857085"/>
                  </a:ext>
                </a:extLst>
              </a:tr>
              <a:tr h="235785">
                <a:tc>
                  <a:txBody>
                    <a:bodyPr/>
                    <a:lstStyle/>
                    <a:p>
                      <a:r>
                        <a:rPr lang="en-US" sz="1100" dirty="0"/>
                        <a:t>9</a:t>
                      </a:r>
                    </a:p>
                  </a:txBody>
                  <a:tcPr marT="25807" marB="25807">
                    <a:lnL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Response as inferred by </a:t>
                      </a:r>
                      <a:r>
                        <a:rPr lang="en-US" sz="1100" dirty="0" err="1"/>
                        <a:t>Watsonx</a:t>
                      </a:r>
                      <a:r>
                        <a:rPr lang="en-US" sz="1100" dirty="0"/>
                        <a:t> LLM</a:t>
                      </a:r>
                    </a:p>
                  </a:txBody>
                  <a:tcPr marT="25807" marB="25807">
                    <a:lnL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0314646"/>
                  </a:ext>
                </a:extLst>
              </a:tr>
              <a:tr h="235785">
                <a:tc>
                  <a:txBody>
                    <a:bodyPr/>
                    <a:lstStyle/>
                    <a:p>
                      <a:r>
                        <a:rPr lang="en-US" sz="1100" dirty="0"/>
                        <a:t>12</a:t>
                      </a:r>
                    </a:p>
                  </a:txBody>
                  <a:tcPr marT="25807" marB="25807">
                    <a:lnL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Response sent back to customer</a:t>
                      </a:r>
                    </a:p>
                  </a:txBody>
                  <a:tcPr marT="25807" marB="25807">
                    <a:lnL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5726094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5746438-A5AD-CCF5-3DA1-C8A0771D83F5}"/>
              </a:ext>
            </a:extLst>
          </p:cNvPr>
          <p:cNvCxnSpPr>
            <a:cxnSpLocks/>
          </p:cNvCxnSpPr>
          <p:nvPr/>
        </p:nvCxnSpPr>
        <p:spPr>
          <a:xfrm>
            <a:off x="5606855" y="3173006"/>
            <a:ext cx="649538" cy="231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70A972B7-66BE-FFC1-4286-637516E99CEA}"/>
              </a:ext>
            </a:extLst>
          </p:cNvPr>
          <p:cNvCxnSpPr>
            <a:cxnSpLocks/>
          </p:cNvCxnSpPr>
          <p:nvPr/>
        </p:nvCxnSpPr>
        <p:spPr>
          <a:xfrm flipV="1">
            <a:off x="3085430" y="3183950"/>
            <a:ext cx="2083521" cy="131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FA8C6F3-485B-75F3-3B02-D6132B15C28C}"/>
              </a:ext>
            </a:extLst>
          </p:cNvPr>
          <p:cNvSpPr txBox="1"/>
          <p:nvPr/>
        </p:nvSpPr>
        <p:spPr>
          <a:xfrm>
            <a:off x="-162317" y="691274"/>
            <a:ext cx="20150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latin typeface="IBM Plex Sans" panose="020B0503050203000203" pitchFamily="34" charset="0"/>
              </a:rPr>
              <a:t>Multi-stage RAG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689952-AFC7-8627-CD84-476D5D6652E5}"/>
              </a:ext>
            </a:extLst>
          </p:cNvPr>
          <p:cNvSpPr txBox="1"/>
          <p:nvPr/>
        </p:nvSpPr>
        <p:spPr>
          <a:xfrm>
            <a:off x="4016197" y="3205046"/>
            <a:ext cx="3561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2060"/>
                </a:solidFill>
                <a:highlight>
                  <a:srgbClr val="0000FF"/>
                </a:highlight>
              </a:rPr>
              <a:t>-</a:t>
            </a:r>
            <a:r>
              <a:rPr lang="en-US" sz="1200" dirty="0">
                <a:solidFill>
                  <a:schemeClr val="bg1"/>
                </a:solidFill>
                <a:highlight>
                  <a:srgbClr val="0000FF"/>
                </a:highlight>
              </a:rPr>
              <a:t>2</a:t>
            </a:r>
            <a:r>
              <a:rPr lang="en-US" sz="1200" dirty="0">
                <a:highlight>
                  <a:srgbClr val="0000FF"/>
                </a:highlight>
              </a:rPr>
              <a:t>-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092506-BAFB-4A6B-BB81-70B25176F71B}"/>
              </a:ext>
            </a:extLst>
          </p:cNvPr>
          <p:cNvSpPr txBox="1"/>
          <p:nvPr/>
        </p:nvSpPr>
        <p:spPr>
          <a:xfrm>
            <a:off x="5800843" y="3184965"/>
            <a:ext cx="3561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2060"/>
                </a:solidFill>
                <a:highlight>
                  <a:srgbClr val="0000FF"/>
                </a:highlight>
              </a:rPr>
              <a:t>-</a:t>
            </a:r>
            <a:r>
              <a:rPr lang="en-US" sz="1200" dirty="0">
                <a:solidFill>
                  <a:schemeClr val="bg1"/>
                </a:solidFill>
                <a:highlight>
                  <a:srgbClr val="0000FF"/>
                </a:highlight>
              </a:rPr>
              <a:t>1</a:t>
            </a:r>
            <a:r>
              <a:rPr lang="en-US" sz="1200" dirty="0">
                <a:highlight>
                  <a:srgbClr val="0000FF"/>
                </a:highlight>
              </a:rPr>
              <a:t>-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9132EA-D576-17B4-47B5-4E6DA5A07E43}"/>
              </a:ext>
            </a:extLst>
          </p:cNvPr>
          <p:cNvSpPr txBox="1"/>
          <p:nvPr/>
        </p:nvSpPr>
        <p:spPr>
          <a:xfrm>
            <a:off x="2767182" y="2303902"/>
            <a:ext cx="3561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2060"/>
                </a:solidFill>
                <a:highlight>
                  <a:srgbClr val="0000FF"/>
                </a:highlight>
              </a:rPr>
              <a:t>-</a:t>
            </a:r>
            <a:r>
              <a:rPr lang="en-US" sz="1200" dirty="0">
                <a:solidFill>
                  <a:schemeClr val="bg1"/>
                </a:solidFill>
                <a:highlight>
                  <a:srgbClr val="0000FF"/>
                </a:highlight>
              </a:rPr>
              <a:t>3</a:t>
            </a:r>
            <a:r>
              <a:rPr lang="en-US" sz="1200" dirty="0">
                <a:highlight>
                  <a:srgbClr val="0000FF"/>
                </a:highlight>
              </a:rPr>
              <a:t>-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A915ED-FA59-9BFD-07D7-812356BE1B38}"/>
              </a:ext>
            </a:extLst>
          </p:cNvPr>
          <p:cNvSpPr txBox="1"/>
          <p:nvPr/>
        </p:nvSpPr>
        <p:spPr>
          <a:xfrm>
            <a:off x="4002947" y="2724657"/>
            <a:ext cx="3561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2060"/>
                </a:solidFill>
                <a:highlight>
                  <a:srgbClr val="0000FF"/>
                </a:highlight>
              </a:rPr>
              <a:t>-</a:t>
            </a:r>
            <a:r>
              <a:rPr lang="en-US" sz="1200" dirty="0">
                <a:solidFill>
                  <a:schemeClr val="bg1"/>
                </a:solidFill>
                <a:highlight>
                  <a:srgbClr val="0000FF"/>
                </a:highlight>
              </a:rPr>
              <a:t>4</a:t>
            </a:r>
            <a:r>
              <a:rPr lang="en-US" sz="1200" dirty="0">
                <a:highlight>
                  <a:srgbClr val="0000FF"/>
                </a:highlight>
              </a:rPr>
              <a:t>-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8AD876-781C-CF36-8BD6-159704E2D10A}"/>
              </a:ext>
            </a:extLst>
          </p:cNvPr>
          <p:cNvSpPr txBox="1"/>
          <p:nvPr/>
        </p:nvSpPr>
        <p:spPr>
          <a:xfrm>
            <a:off x="5775424" y="2718033"/>
            <a:ext cx="3561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2060"/>
                </a:solidFill>
                <a:highlight>
                  <a:srgbClr val="0000FF"/>
                </a:highlight>
              </a:rPr>
              <a:t>-</a:t>
            </a:r>
            <a:r>
              <a:rPr lang="en-US" sz="1200" dirty="0">
                <a:solidFill>
                  <a:schemeClr val="bg1"/>
                </a:solidFill>
                <a:highlight>
                  <a:srgbClr val="0000FF"/>
                </a:highlight>
              </a:rPr>
              <a:t>5</a:t>
            </a:r>
            <a:r>
              <a:rPr lang="en-US" sz="1200" dirty="0">
                <a:highlight>
                  <a:srgbClr val="0000FF"/>
                </a:highlight>
              </a:rPr>
              <a:t>-</a:t>
            </a:r>
          </a:p>
        </p:txBody>
      </p: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57BE492E-EA55-1D23-9EB9-4CE74173393C}"/>
              </a:ext>
            </a:extLst>
          </p:cNvPr>
          <p:cNvCxnSpPr>
            <a:cxnSpLocks/>
          </p:cNvCxnSpPr>
          <p:nvPr/>
        </p:nvCxnSpPr>
        <p:spPr>
          <a:xfrm flipV="1">
            <a:off x="3198194" y="3924335"/>
            <a:ext cx="3614273" cy="921650"/>
          </a:xfrm>
          <a:prstGeom prst="bentConnector3">
            <a:avLst>
              <a:gd name="adj1" fmla="val 100049"/>
            </a:avLst>
          </a:prstGeom>
          <a:ln w="1270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5AE8463-738F-B760-1B66-8D33C4F71E63}"/>
              </a:ext>
            </a:extLst>
          </p:cNvPr>
          <p:cNvCxnSpPr>
            <a:cxnSpLocks/>
          </p:cNvCxnSpPr>
          <p:nvPr/>
        </p:nvCxnSpPr>
        <p:spPr>
          <a:xfrm flipH="1" flipV="1">
            <a:off x="2899800" y="3610011"/>
            <a:ext cx="1460" cy="749857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C9D7443-2ADC-1E65-9DB5-EAEAAFDF935B}"/>
              </a:ext>
            </a:extLst>
          </p:cNvPr>
          <p:cNvCxnSpPr>
            <a:cxnSpLocks/>
          </p:cNvCxnSpPr>
          <p:nvPr/>
        </p:nvCxnSpPr>
        <p:spPr>
          <a:xfrm flipV="1">
            <a:off x="1070435" y="4844945"/>
            <a:ext cx="1282319" cy="8965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DA2F6F3D-DC8B-5537-5A07-BCAD8BC54077}"/>
              </a:ext>
            </a:extLst>
          </p:cNvPr>
          <p:cNvSpPr txBox="1"/>
          <p:nvPr/>
        </p:nvSpPr>
        <p:spPr>
          <a:xfrm>
            <a:off x="1541979" y="4374991"/>
            <a:ext cx="3561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2060"/>
                </a:solidFill>
                <a:highlight>
                  <a:srgbClr val="0000FF"/>
                </a:highlight>
              </a:rPr>
              <a:t>-</a:t>
            </a:r>
            <a:r>
              <a:rPr lang="en-US" sz="1200" dirty="0">
                <a:solidFill>
                  <a:schemeClr val="bg1"/>
                </a:solidFill>
                <a:highlight>
                  <a:srgbClr val="0000FF"/>
                </a:highlight>
              </a:rPr>
              <a:t>6</a:t>
            </a:r>
            <a:r>
              <a:rPr lang="en-US" sz="1200" dirty="0">
                <a:highlight>
                  <a:srgbClr val="0000FF"/>
                </a:highlight>
              </a:rPr>
              <a:t>-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3E5FFCA-8BB8-BA9B-15A9-E7D55898E152}"/>
              </a:ext>
            </a:extLst>
          </p:cNvPr>
          <p:cNvSpPr txBox="1"/>
          <p:nvPr/>
        </p:nvSpPr>
        <p:spPr>
          <a:xfrm>
            <a:off x="4796512" y="4897059"/>
            <a:ext cx="3561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2060"/>
                </a:solidFill>
                <a:highlight>
                  <a:srgbClr val="0000FF"/>
                </a:highlight>
              </a:rPr>
              <a:t>-</a:t>
            </a:r>
            <a:r>
              <a:rPr lang="en-US" sz="1200" dirty="0">
                <a:solidFill>
                  <a:schemeClr val="bg1"/>
                </a:solidFill>
                <a:highlight>
                  <a:srgbClr val="0000FF"/>
                </a:highlight>
              </a:rPr>
              <a:t>7</a:t>
            </a:r>
            <a:r>
              <a:rPr lang="en-US" sz="1200" dirty="0">
                <a:highlight>
                  <a:srgbClr val="0000FF"/>
                </a:highlight>
              </a:rPr>
              <a:t>-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00C5A99-ADA8-B158-BC3F-0575A6C06BBF}"/>
              </a:ext>
            </a:extLst>
          </p:cNvPr>
          <p:cNvSpPr txBox="1"/>
          <p:nvPr/>
        </p:nvSpPr>
        <p:spPr>
          <a:xfrm>
            <a:off x="2871633" y="3899103"/>
            <a:ext cx="3561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2060"/>
                </a:solidFill>
                <a:highlight>
                  <a:srgbClr val="0000FF"/>
                </a:highlight>
              </a:rPr>
              <a:t>-</a:t>
            </a:r>
            <a:r>
              <a:rPr lang="en-US" sz="1200" dirty="0">
                <a:solidFill>
                  <a:schemeClr val="bg1"/>
                </a:solidFill>
                <a:highlight>
                  <a:srgbClr val="0000FF"/>
                </a:highlight>
              </a:rPr>
              <a:t>8</a:t>
            </a:r>
            <a:r>
              <a:rPr lang="en-US" sz="1200" dirty="0">
                <a:highlight>
                  <a:srgbClr val="0000FF"/>
                </a:highlight>
              </a:rPr>
              <a:t>-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0C37082-22C2-468F-BC87-B0E2415DFBF2}"/>
              </a:ext>
            </a:extLst>
          </p:cNvPr>
          <p:cNvSpPr txBox="1"/>
          <p:nvPr/>
        </p:nvSpPr>
        <p:spPr>
          <a:xfrm>
            <a:off x="2348172" y="3872601"/>
            <a:ext cx="3561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2060"/>
                </a:solidFill>
                <a:highlight>
                  <a:srgbClr val="0000FF"/>
                </a:highlight>
              </a:rPr>
              <a:t>-</a:t>
            </a:r>
            <a:r>
              <a:rPr lang="en-US" sz="1200" dirty="0">
                <a:solidFill>
                  <a:schemeClr val="bg1"/>
                </a:solidFill>
                <a:highlight>
                  <a:srgbClr val="0000FF"/>
                </a:highlight>
              </a:rPr>
              <a:t>9</a:t>
            </a:r>
            <a:r>
              <a:rPr lang="en-US" sz="1200" dirty="0">
                <a:highlight>
                  <a:srgbClr val="0000FF"/>
                </a:highlight>
              </a:rPr>
              <a:t>-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980E02-5820-8938-CA5F-344127FA1CA9}"/>
              </a:ext>
            </a:extLst>
          </p:cNvPr>
          <p:cNvSpPr txBox="1"/>
          <p:nvPr/>
        </p:nvSpPr>
        <p:spPr>
          <a:xfrm>
            <a:off x="1615990" y="4859888"/>
            <a:ext cx="4347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2060"/>
                </a:solidFill>
                <a:highlight>
                  <a:srgbClr val="0000FF"/>
                </a:highlight>
              </a:rPr>
              <a:t>-</a:t>
            </a:r>
            <a:r>
              <a:rPr lang="en-US" sz="1200" dirty="0">
                <a:solidFill>
                  <a:schemeClr val="bg1"/>
                </a:solidFill>
                <a:highlight>
                  <a:srgbClr val="0000FF"/>
                </a:highlight>
              </a:rPr>
              <a:t>10</a:t>
            </a:r>
            <a:r>
              <a:rPr lang="en-US" sz="1200" dirty="0">
                <a:highlight>
                  <a:srgbClr val="0000FF"/>
                </a:highlight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2173584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>
            <a:extLst>
              <a:ext uri="{FF2B5EF4-FFF2-40B4-BE49-F238E27FC236}">
                <a16:creationId xmlns:a16="http://schemas.microsoft.com/office/drawing/2014/main" id="{688CEB33-C586-4BC7-8E7E-33F2D028773C}"/>
              </a:ext>
            </a:extLst>
          </p:cNvPr>
          <p:cNvSpPr txBox="1">
            <a:spLocks/>
          </p:cNvSpPr>
          <p:nvPr/>
        </p:nvSpPr>
        <p:spPr>
          <a:xfrm>
            <a:off x="391981" y="992660"/>
            <a:ext cx="4169134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 defTabSz="914621">
              <a:defRPr sz="2400">
                <a:solidFill>
                  <a:srgbClr val="000000"/>
                </a:solidFill>
                <a:latin typeface="IBM Plex Sans Light" panose="020B0403050203000203" pitchFamily="34" charset="0"/>
              </a:defRPr>
            </a:lvl1pPr>
          </a:lstStyle>
          <a:p>
            <a:pPr>
              <a:spcBef>
                <a:spcPts val="600"/>
              </a:spcBef>
            </a:pPr>
            <a:r>
              <a:rPr lang="en-US" b="1" dirty="0">
                <a:latin typeface="IBM Plex Sans SemiBold" panose="020B0503050203000203" pitchFamily="34" charset="0"/>
              </a:rPr>
              <a:t>Proposed Architecture</a:t>
            </a:r>
          </a:p>
        </p:txBody>
      </p:sp>
      <p:sp>
        <p:nvSpPr>
          <p:cNvPr id="23" name="Rectangle 33">
            <a:extLst>
              <a:ext uri="{FF2B5EF4-FFF2-40B4-BE49-F238E27FC236}">
                <a16:creationId xmlns:a16="http://schemas.microsoft.com/office/drawing/2014/main" id="{0F7134B0-434D-D84B-9419-E470DF8034C6}"/>
              </a:ext>
            </a:extLst>
          </p:cNvPr>
          <p:cNvSpPr/>
          <p:nvPr/>
        </p:nvSpPr>
        <p:spPr>
          <a:xfrm>
            <a:off x="320512" y="1472509"/>
            <a:ext cx="4169134" cy="404213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285750" indent="-285750" defTabSz="914621">
              <a:spcAft>
                <a:spcPts val="8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b="1" dirty="0">
                <a:latin typeface="IBM Plex Sans"/>
              </a:rPr>
              <a:t>Type of Engagement: PoC</a:t>
            </a:r>
          </a:p>
          <a:p>
            <a:pPr defTabSz="914621">
              <a:spcAft>
                <a:spcPts val="800"/>
              </a:spcAft>
              <a:defRPr/>
            </a:pPr>
            <a:endParaRPr lang="en-US" sz="1400" b="1" dirty="0">
              <a:latin typeface="IBM Plex Sans"/>
            </a:endParaRPr>
          </a:p>
          <a:p>
            <a:pPr marL="285750" indent="-285750" defTabSz="914621">
              <a:spcAft>
                <a:spcPts val="8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b="1" dirty="0">
                <a:latin typeface="IBM Plex Sans SemiBold" panose="020B0503050203000203" pitchFamily="34" charset="0"/>
              </a:rPr>
              <a:t>Architecture </a:t>
            </a:r>
            <a:r>
              <a:rPr lang="en-US" sz="1400" b="1" dirty="0">
                <a:latin typeface="IBM Plex Sans"/>
              </a:rPr>
              <a:t>details:</a:t>
            </a:r>
            <a:endParaRPr lang="en-US" sz="1400" dirty="0">
              <a:latin typeface="IBM Plex Sans"/>
            </a:endParaRPr>
          </a:p>
          <a:p>
            <a:pPr marL="742950" lvl="1" indent="-285750" defTabSz="914621">
              <a:spcAft>
                <a:spcPts val="8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IBM Plex Sans"/>
              </a:rPr>
              <a:t>Application Name = “Social Impact AI”</a:t>
            </a:r>
          </a:p>
          <a:p>
            <a:pPr defTabSz="914621">
              <a:spcAft>
                <a:spcPts val="800"/>
              </a:spcAft>
              <a:defRPr/>
            </a:pPr>
            <a:endParaRPr lang="en-US" sz="1400" dirty="0">
              <a:latin typeface="IBM Plex Sans"/>
            </a:endParaRPr>
          </a:p>
          <a:p>
            <a:pPr defTabSz="914621">
              <a:spcAft>
                <a:spcPts val="800"/>
              </a:spcAft>
              <a:defRPr/>
            </a:pPr>
            <a:r>
              <a:rPr lang="en-US" sz="1400" i="1" dirty="0">
                <a:latin typeface="IBM Plex Sans"/>
              </a:rPr>
              <a:t>As part of discovery session, Build Lab to work with ScaleWith business and development team to construct application architecture.  ScaleWith would outline the intended user experience and approach, and IBM/Build Lab would develop the use case with the IBM Watsonx offerings as required.</a:t>
            </a:r>
          </a:p>
          <a:p>
            <a:pPr defTabSz="914621">
              <a:spcAft>
                <a:spcPts val="800"/>
              </a:spcAft>
              <a:defRPr/>
            </a:pPr>
            <a:r>
              <a:rPr lang="en-US" sz="1400" i="1" dirty="0">
                <a:latin typeface="IBM Plex Sans"/>
              </a:rPr>
              <a:t>Assumption: ScaleWith will embed the Watson services running on IBM Cloud.</a:t>
            </a:r>
            <a:endParaRPr lang="en-US" sz="1400" dirty="0">
              <a:latin typeface="IBM Plex Sans"/>
            </a:endParaRPr>
          </a:p>
          <a:p>
            <a:pPr defTabSz="914621">
              <a:spcAft>
                <a:spcPts val="800"/>
              </a:spcAft>
              <a:defRPr/>
            </a:pPr>
            <a:endParaRPr lang="en-US" sz="1400" dirty="0">
              <a:latin typeface="IBM Plex Sans"/>
            </a:endParaRP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A0F57FE9-15D8-B581-B989-A93E29C00D20}"/>
              </a:ext>
            </a:extLst>
          </p:cNvPr>
          <p:cNvGrpSpPr/>
          <p:nvPr/>
        </p:nvGrpSpPr>
        <p:grpSpPr>
          <a:xfrm>
            <a:off x="5826643" y="6490583"/>
            <a:ext cx="538715" cy="109963"/>
            <a:chOff x="5826642" y="1888957"/>
            <a:chExt cx="538715" cy="109963"/>
          </a:xfrm>
        </p:grpSpPr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D0B9BD2C-DE84-979F-C680-9112B65BB2F2}"/>
                </a:ext>
              </a:extLst>
            </p:cNvPr>
            <p:cNvSpPr/>
            <p:nvPr/>
          </p:nvSpPr>
          <p:spPr>
            <a:xfrm>
              <a:off x="5826642" y="1888957"/>
              <a:ext cx="109963" cy="109963"/>
            </a:xfrm>
            <a:prstGeom prst="rect">
              <a:avLst/>
            </a:prstGeom>
            <a:solidFill>
              <a:srgbClr val="83A9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1B155E3E-D02F-111D-FF27-167AB474BEC9}"/>
                </a:ext>
              </a:extLst>
            </p:cNvPr>
            <p:cNvSpPr/>
            <p:nvPr/>
          </p:nvSpPr>
          <p:spPr>
            <a:xfrm>
              <a:off x="6041018" y="1888957"/>
              <a:ext cx="109963" cy="109963"/>
            </a:xfrm>
            <a:prstGeom prst="rect">
              <a:avLst/>
            </a:prstGeom>
            <a:solidFill>
              <a:srgbClr val="B8DC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0243343E-4751-DF9C-6BC6-F488688785E6}"/>
                </a:ext>
              </a:extLst>
            </p:cNvPr>
            <p:cNvSpPr/>
            <p:nvPr/>
          </p:nvSpPr>
          <p:spPr>
            <a:xfrm>
              <a:off x="6255394" y="1888957"/>
              <a:ext cx="109963" cy="109963"/>
            </a:xfrm>
            <a:prstGeom prst="rect">
              <a:avLst/>
            </a:prstGeom>
            <a:solidFill>
              <a:srgbClr val="E0A8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pic>
        <p:nvPicPr>
          <p:cNvPr id="20" name="Picture 2" descr="IBM Logo – PNG e Vetor – Download de Logo">
            <a:extLst>
              <a:ext uri="{FF2B5EF4-FFF2-40B4-BE49-F238E27FC236}">
                <a16:creationId xmlns:a16="http://schemas.microsoft.com/office/drawing/2014/main" id="{09AA7E33-4D46-F595-7D6C-8F307CDF9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582" y="328000"/>
            <a:ext cx="773389" cy="311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18">
            <a:extLst>
              <a:ext uri="{FF2B5EF4-FFF2-40B4-BE49-F238E27FC236}">
                <a16:creationId xmlns:a16="http://schemas.microsoft.com/office/drawing/2014/main" id="{7F8B35AD-CCEF-5899-0774-289CB47C0200}"/>
              </a:ext>
            </a:extLst>
          </p:cNvPr>
          <p:cNvSpPr txBox="1"/>
          <p:nvPr/>
        </p:nvSpPr>
        <p:spPr>
          <a:xfrm>
            <a:off x="9139931" y="331972"/>
            <a:ext cx="1945603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defTabSz="914621">
              <a:defRPr/>
            </a:pPr>
            <a:r>
              <a:rPr lang="en-US" sz="1400" dirty="0">
                <a:solidFill>
                  <a:srgbClr val="000000"/>
                </a:solidFill>
                <a:latin typeface="IBM Plex Sans Light" panose="020B0403050203000203" pitchFamily="34" charset="0"/>
              </a:rPr>
              <a:t>[Partner logo]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CD899D9-A9ED-B95E-30B8-5C75D740AB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extBox 18">
            <a:extLst>
              <a:ext uri="{FF2B5EF4-FFF2-40B4-BE49-F238E27FC236}">
                <a16:creationId xmlns:a16="http://schemas.microsoft.com/office/drawing/2014/main" id="{3438EB15-DF66-42DF-DC4C-E6C6D3D99CB4}"/>
              </a:ext>
            </a:extLst>
          </p:cNvPr>
          <p:cNvSpPr txBox="1"/>
          <p:nvPr/>
        </p:nvSpPr>
        <p:spPr>
          <a:xfrm>
            <a:off x="409079" y="328000"/>
            <a:ext cx="5825319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914621">
              <a:defRPr/>
            </a:pPr>
            <a:r>
              <a:rPr lang="en-US" sz="1200" dirty="0">
                <a:solidFill>
                  <a:srgbClr val="000000"/>
                </a:solidFill>
                <a:latin typeface="IBM Plex Sans Light"/>
              </a:rPr>
              <a:t>[Ecosystem Engineering | </a:t>
            </a:r>
            <a:r>
              <a:rPr lang="en-US" sz="1200" dirty="0">
                <a:solidFill>
                  <a:srgbClr val="000000"/>
                </a:solidFill>
                <a:latin typeface="IBM Plex Sans Medium"/>
              </a:rPr>
              <a:t>Build Lab Americas</a:t>
            </a:r>
            <a:r>
              <a:rPr lang="en-US" sz="1200" dirty="0">
                <a:solidFill>
                  <a:srgbClr val="000000"/>
                </a:solidFill>
                <a:latin typeface="IBM Plex Sans Light"/>
              </a:rPr>
              <a:t>]</a:t>
            </a:r>
          </a:p>
        </p:txBody>
      </p:sp>
      <p:pic>
        <p:nvPicPr>
          <p:cNvPr id="2" name="Picture 2" descr="ScaleWith">
            <a:extLst>
              <a:ext uri="{FF2B5EF4-FFF2-40B4-BE49-F238E27FC236}">
                <a16:creationId xmlns:a16="http://schemas.microsoft.com/office/drawing/2014/main" id="{36301E95-9157-4073-1F71-CD8734AC8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3141" y="263333"/>
            <a:ext cx="1462792" cy="40633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33C4B7-A41F-4E43-C547-2F977273FB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5950" y="1590324"/>
            <a:ext cx="7593671" cy="4275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5596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14202</TotalTime>
  <Words>233</Words>
  <Application>Microsoft Macintosh PowerPoint</Application>
  <PresentationFormat>Widescreen</PresentationFormat>
  <Paragraphs>62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Arial</vt:lpstr>
      <vt:lpstr>Calibri</vt:lpstr>
      <vt:lpstr>Calibri Light</vt:lpstr>
      <vt:lpstr>IBM Plex Sans</vt:lpstr>
      <vt:lpstr>IBM Plex Sans Light</vt:lpstr>
      <vt:lpstr>IBM Plex Sans Medium</vt:lpstr>
      <vt:lpstr>IBM Plex Sans SemiBold</vt:lpstr>
      <vt:lpstr>Tema do Office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Giuliana Fiacadori</dc:creator>
  <cp:lastModifiedBy>Rojan Jose</cp:lastModifiedBy>
  <cp:revision>387</cp:revision>
  <dcterms:created xsi:type="dcterms:W3CDTF">2021-07-06T13:03:49Z</dcterms:created>
  <dcterms:modified xsi:type="dcterms:W3CDTF">2023-10-25T23:59:36Z</dcterms:modified>
</cp:coreProperties>
</file>