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Layouts/slideLayout23.xml" ContentType="application/vnd.openxmlformats-officedocument.presentationml.slideLayout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</p:sldMasterIdLst>
  <p:sldIdLst>
    <p:sldId id="256" r:id="rId3"/>
    <p:sldId id="257" r:id="rId4"/>
    <p:sldId id="258" r:id="rId5"/>
  </p:sldIdLst>
  <p:sldSz cx="9144000" cy="5143500"/>
  <p:notesSz cx="9144000" cy="51435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A36105F6-0E29-4033-AB89-67721543B515}">
  <a:tblStyle styleId="{A36105F6-0E29-4033-AB89-67721543B515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ver Slide" preserve="0" showMasterPhAnim="0" userDrawn="1">
  <p:cSld name="Cover Slid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7" name="Google Shape;57;p14" descr="Shape, circle&#10;&#10;Description automatically generated"/>
          <p:cNvPicPr/>
          <p:nvPr/>
        </p:nvPicPr>
        <p:blipFill>
          <a:blip r:embed="rId2">
            <a:alphaModFix/>
          </a:blip>
          <a:srcRect l="3157" t="3157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subTitle" idx="1"/>
          </p:nvPr>
        </p:nvSpPr>
        <p:spPr bwMode="auto">
          <a:xfrm>
            <a:off x="628650" y="3044429"/>
            <a:ext cx="51243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59" name="Google Shape;59;p14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50892" y="388835"/>
            <a:ext cx="1669967" cy="347239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type="body" idx="2"/>
          </p:nvPr>
        </p:nvSpPr>
        <p:spPr bwMode="auto">
          <a:xfrm>
            <a:off x="625061" y="4286250"/>
            <a:ext cx="5124300" cy="19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 b="1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" name="Google Shape;61;p14"/>
          <p:cNvSpPr txBox="1"/>
          <p:nvPr>
            <p:ph type="body" idx="3"/>
          </p:nvPr>
        </p:nvSpPr>
        <p:spPr bwMode="auto">
          <a:xfrm>
            <a:off x="585788" y="925116"/>
            <a:ext cx="4900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laceholder Slide (Text + Image)" preserve="0" showMasterPhAnim="0" userDrawn="1">
  <p:cSld name="Title Only with lo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64" name="Google Shape;64;p15"/>
          <p:cNvSpPr txBox="1"/>
          <p:nvPr>
            <p:ph type="body" idx="1"/>
          </p:nvPr>
        </p:nvSpPr>
        <p:spPr bwMode="auto">
          <a:xfrm>
            <a:off x="138376" y="65942"/>
            <a:ext cx="693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10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65" name="Google Shape;65;p15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" name="Google Shape;68;p16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" name="Google Shape;69;p16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0" name="Google Shape;70;p16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xt over Full Image" preserve="0" showMasterPhAnim="0" userDrawn="1">
  <p:cSld name="Text over Full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>
            <p:ph type="pic" idx="2"/>
          </p:nvPr>
        </p:nvSpPr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7"/>
          <p:cNvSpPr txBox="1"/>
          <p:nvPr>
            <p:ph type="body" idx="1"/>
          </p:nvPr>
        </p:nvSpPr>
        <p:spPr bwMode="auto">
          <a:xfrm>
            <a:off x="620541" y="492919"/>
            <a:ext cx="4866000" cy="29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" name="Google Shape;74;p17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" name="Google Shape;75;p17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" name="Google Shape;76;p17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77" name="Google Shape;77;p17"/>
          <p:cNvSpPr txBox="1"/>
          <p:nvPr>
            <p:ph type="body" idx="3"/>
          </p:nvPr>
        </p:nvSpPr>
        <p:spPr bwMode="auto">
          <a:xfrm>
            <a:off x="620544" y="522103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 bwMode="auto"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" name="Google Shape;80;p18"/>
          <p:cNvSpPr txBox="1"/>
          <p:nvPr>
            <p:ph type="body" idx="1"/>
          </p:nvPr>
        </p:nvSpPr>
        <p:spPr bwMode="auto"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pPr>
              <a:defRPr/>
            </a:pPr>
            <a:endParaRPr/>
          </a:p>
        </p:txBody>
      </p:sp>
      <p:sp>
        <p:nvSpPr>
          <p:cNvPr id="81" name="Google Shape;81;p18"/>
          <p:cNvSpPr txBox="1"/>
          <p:nvPr>
            <p:ph type="body" idx="2"/>
          </p:nvPr>
        </p:nvSpPr>
        <p:spPr bwMode="auto"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82" name="Google Shape;82;p18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" name="Google Shape;83;p18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" name="Google Shape;84;p18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Comparison" preserve="0" showMasterPhAnim="0" userDrawn="1">
  <p:cSld name="Product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" name="Google Shape;87;p19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" name="Google Shape;88;p19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89" name="Google Shape;89;p19"/>
          <p:cNvSpPr/>
          <p:nvPr/>
        </p:nvSpPr>
        <p:spPr bwMode="auto">
          <a:xfrm>
            <a:off x="307659" y="2988316"/>
            <a:ext cx="2634600" cy="18804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0" name="Google Shape;90;p19"/>
          <p:cNvSpPr/>
          <p:nvPr/>
        </p:nvSpPr>
        <p:spPr bwMode="auto">
          <a:xfrm>
            <a:off x="3274142" y="2988316"/>
            <a:ext cx="2634600" cy="18804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1" name="Google Shape;91;p19"/>
          <p:cNvSpPr/>
          <p:nvPr/>
        </p:nvSpPr>
        <p:spPr bwMode="auto">
          <a:xfrm>
            <a:off x="6168857" y="2988316"/>
            <a:ext cx="2634600" cy="18804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2" name="Google Shape;92;p19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93" name="Google Shape;93;p19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94" name="Google Shape;94;p19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/>
          <p:nvPr>
            <p:ph type="pic" idx="2"/>
          </p:nvPr>
        </p:nvSpPr>
        <p:spPr bwMode="auto">
          <a:xfrm>
            <a:off x="432488" y="541961"/>
            <a:ext cx="2510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19"/>
          <p:cNvSpPr/>
          <p:nvPr>
            <p:ph type="pic" idx="3"/>
          </p:nvPr>
        </p:nvSpPr>
        <p:spPr bwMode="auto">
          <a:xfrm>
            <a:off x="3398681" y="541961"/>
            <a:ext cx="2510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97" name="Google Shape;97;p19"/>
          <p:cNvSpPr/>
          <p:nvPr>
            <p:ph type="pic" idx="4"/>
          </p:nvPr>
        </p:nvSpPr>
        <p:spPr bwMode="auto">
          <a:xfrm>
            <a:off x="6296486" y="543794"/>
            <a:ext cx="2510100" cy="8001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type="pic" idx="5"/>
          </p:nvPr>
        </p:nvSpPr>
        <p:spPr bwMode="auto">
          <a:xfrm>
            <a:off x="333402" y="1411256"/>
            <a:ext cx="2608800" cy="1375200"/>
          </a:xfrm>
          <a:prstGeom prst="roundRect">
            <a:avLst>
              <a:gd name="adj" fmla="val 5333"/>
            </a:avLst>
          </a:prstGeom>
          <a:noFill/>
          <a:ln>
            <a:noFill/>
          </a:ln>
          <a:effectLst>
            <a:outerShdw blurRad="152400" dist="38100" dir="2700000" sx="101000" sy="101000" algn="tl" rotWithShape="0">
              <a:srgbClr val="403E30">
                <a:alpha val="20390"/>
              </a:srgbClr>
            </a:outerShdw>
          </a:effectLst>
        </p:spPr>
      </p:sp>
      <p:sp>
        <p:nvSpPr>
          <p:cNvPr id="99" name="Google Shape;99;p19"/>
          <p:cNvSpPr/>
          <p:nvPr>
            <p:ph type="pic" idx="6"/>
          </p:nvPr>
        </p:nvSpPr>
        <p:spPr bwMode="auto">
          <a:xfrm>
            <a:off x="3275030" y="1411256"/>
            <a:ext cx="2633700" cy="1375200"/>
          </a:xfrm>
          <a:prstGeom prst="roundRect">
            <a:avLst>
              <a:gd name="adj" fmla="val 5333"/>
            </a:avLst>
          </a:prstGeom>
          <a:noFill/>
          <a:ln>
            <a:noFill/>
          </a:ln>
          <a:effectLst>
            <a:outerShdw blurRad="152400" dist="38100" dir="2700000" sx="101000" sy="101000" algn="tl" rotWithShape="0">
              <a:srgbClr val="403E30">
                <a:alpha val="20390"/>
              </a:srgbClr>
            </a:outerShdw>
          </a:effectLst>
        </p:spPr>
      </p:sp>
      <p:sp>
        <p:nvSpPr>
          <p:cNvPr id="100" name="Google Shape;100;p19"/>
          <p:cNvSpPr/>
          <p:nvPr>
            <p:ph type="pic" idx="7"/>
          </p:nvPr>
        </p:nvSpPr>
        <p:spPr bwMode="auto">
          <a:xfrm>
            <a:off x="6170105" y="1411256"/>
            <a:ext cx="2633400" cy="1375200"/>
          </a:xfrm>
          <a:prstGeom prst="roundRect">
            <a:avLst>
              <a:gd name="adj" fmla="val 5333"/>
            </a:avLst>
          </a:prstGeom>
          <a:noFill/>
          <a:ln>
            <a:noFill/>
          </a:ln>
          <a:effectLst>
            <a:outerShdw blurRad="152400" dist="38100" dir="2700000" sx="101000" sy="101000" algn="tl" rotWithShape="0">
              <a:srgbClr val="403E30">
                <a:alpha val="20390"/>
              </a:srgbClr>
            </a:outerShdw>
          </a:effectLst>
        </p:spPr>
      </p:sp>
      <p:sp>
        <p:nvSpPr>
          <p:cNvPr id="101" name="Google Shape;101;p19"/>
          <p:cNvSpPr txBox="1"/>
          <p:nvPr>
            <p:ph type="body" idx="8"/>
          </p:nvPr>
        </p:nvSpPr>
        <p:spPr bwMode="auto">
          <a:xfrm>
            <a:off x="432197" y="3184922"/>
            <a:ext cx="23181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sz="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" name="Google Shape;102;p19"/>
          <p:cNvSpPr txBox="1"/>
          <p:nvPr>
            <p:ph type="body" idx="9"/>
          </p:nvPr>
        </p:nvSpPr>
        <p:spPr bwMode="auto">
          <a:xfrm>
            <a:off x="3413328" y="3184922"/>
            <a:ext cx="23181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sz="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" name="Google Shape;103;p19"/>
          <p:cNvSpPr txBox="1"/>
          <p:nvPr>
            <p:ph type="body" idx="13"/>
          </p:nvPr>
        </p:nvSpPr>
        <p:spPr bwMode="auto">
          <a:xfrm>
            <a:off x="6296486" y="3184922"/>
            <a:ext cx="2318100" cy="14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None/>
              <a:defRPr sz="8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lleted List + Image " preserve="0" showMasterPhAnim="0" userDrawn="1">
  <p:cSld name="Bulleted List + Image 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/>
          <p:nvPr>
            <p:ph type="pic" idx="2"/>
          </p:nvPr>
        </p:nvSpPr>
        <p:spPr bwMode="auto">
          <a:xfrm>
            <a:off x="0" y="419832"/>
            <a:ext cx="9144000" cy="473010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20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" name="Google Shape;107;p20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" name="Google Shape;108;p20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09" name="Google Shape;109;p20"/>
          <p:cNvSpPr txBox="1"/>
          <p:nvPr>
            <p:ph type="title"/>
          </p:nvPr>
        </p:nvSpPr>
        <p:spPr bwMode="auto">
          <a:xfrm>
            <a:off x="612321" y="934982"/>
            <a:ext cx="62028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10" name="Google Shape;110;p20"/>
          <p:cNvPicPr/>
          <p:nvPr/>
        </p:nvPicPr>
        <p:blipFill>
          <a:blip r:embed="rId2">
            <a:alphaModFix amt="65000"/>
          </a:blip>
          <a:srcRect l="0" t="0" r="0" b="0"/>
          <a:stretch/>
        </p:blipFill>
        <p:spPr bwMode="auto">
          <a:xfrm rot="2249444">
            <a:off x="616990" y="2544851"/>
            <a:ext cx="460378" cy="460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/>
          <p:nvPr/>
        </p:nvPicPr>
        <p:blipFill>
          <a:blip r:embed="rId2">
            <a:alphaModFix amt="65000"/>
          </a:blip>
          <a:srcRect l="0" t="0" r="0" b="0"/>
          <a:stretch/>
        </p:blipFill>
        <p:spPr bwMode="auto">
          <a:xfrm rot="2249444">
            <a:off x="616990" y="3350268"/>
            <a:ext cx="460378" cy="4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0"/>
          <p:cNvSpPr txBox="1"/>
          <p:nvPr>
            <p:ph type="body" idx="1"/>
          </p:nvPr>
        </p:nvSpPr>
        <p:spPr bwMode="auto">
          <a:xfrm>
            <a:off x="611981" y="1753791"/>
            <a:ext cx="49137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" name="Google Shape;113;p20"/>
          <p:cNvSpPr txBox="1"/>
          <p:nvPr>
            <p:ph type="body" idx="3"/>
          </p:nvPr>
        </p:nvSpPr>
        <p:spPr bwMode="auto">
          <a:xfrm>
            <a:off x="997745" y="2623835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" name="Google Shape;114;p20"/>
          <p:cNvSpPr txBox="1"/>
          <p:nvPr>
            <p:ph type="body" idx="4"/>
          </p:nvPr>
        </p:nvSpPr>
        <p:spPr bwMode="auto">
          <a:xfrm>
            <a:off x="997745" y="3420863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" name="Google Shape;115;p20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16" name="Google Shape;116;p20"/>
          <p:cNvSpPr txBox="1"/>
          <p:nvPr>
            <p:ph type="body" idx="5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17" name="Google Shape;117;p20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ark Blue" preserve="0" showMasterPhAnim="0" type="title" userDrawn="1">
  <p:cSld name="TITL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" name="Google Shape;120;p21"/>
          <p:cNvSpPr txBox="1"/>
          <p:nvPr>
            <p:ph type="subTitle" idx="1"/>
          </p:nvPr>
        </p:nvSpPr>
        <p:spPr bwMode="auto"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21" name="Google Shape;121;p21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" name="Google Shape;122;p21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" name="Google Shape;123;p21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Slide" preserve="0" showMasterPhAnim="0" userDrawn="1">
  <p:cSld name="Section Slid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" name="Google Shape;125;p22" descr="Shape, circle&#10;&#10;Description automatically generated"/>
          <p:cNvPicPr/>
          <p:nvPr/>
        </p:nvPicPr>
        <p:blipFill>
          <a:blip r:embed="rId2">
            <a:alphaModFix/>
          </a:blip>
          <a:srcRect l="3157" t="3157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>
            <p:ph type="body" idx="1"/>
          </p:nvPr>
        </p:nvSpPr>
        <p:spPr bwMode="auto">
          <a:xfrm>
            <a:off x="585788" y="925116"/>
            <a:ext cx="4900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laceholder Slide (Text + Image)" preserve="0" showMasterPhAnim="0" userDrawn="1">
  <p:cSld name="Placeholder Slide (Text + Image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body" idx="1"/>
          </p:nvPr>
        </p:nvSpPr>
        <p:spPr bwMode="auto">
          <a:xfrm>
            <a:off x="611981" y="1009583"/>
            <a:ext cx="3360900" cy="11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" name="Google Shape;129;p23"/>
          <p:cNvSpPr txBox="1"/>
          <p:nvPr>
            <p:ph type="body" idx="2"/>
          </p:nvPr>
        </p:nvSpPr>
        <p:spPr bwMode="auto">
          <a:xfrm>
            <a:off x="611982" y="2041226"/>
            <a:ext cx="3360900" cy="24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" name="Google Shape;130;p23"/>
          <p:cNvSpPr/>
          <p:nvPr>
            <p:ph type="pic" idx="3"/>
          </p:nvPr>
        </p:nvSpPr>
        <p:spPr bwMode="auto">
          <a:xfrm>
            <a:off x="4310801" y="0"/>
            <a:ext cx="4841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" name="Google Shape;131;p23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32" name="Google Shape;132;p23"/>
          <p:cNvSpPr txBox="1"/>
          <p:nvPr>
            <p:ph type="body" idx="4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33" name="Google Shape;133;p23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yWith_Table" preserve="0" showMasterPhAnim="0" userDrawn="1">
  <p:cSld name="BuyWith_Tab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/>
          <p:nvPr/>
        </p:nvSpPr>
        <p:spPr bwMode="auto">
          <a:xfrm>
            <a:off x="0" y="-7634"/>
            <a:ext cx="9144000" cy="11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36" name="Google Shape;136;p24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4"/>
          <p:cNvSpPr txBox="1"/>
          <p:nvPr/>
        </p:nvSpPr>
        <p:spPr bwMode="auto">
          <a:xfrm>
            <a:off x="2000625" y="283164"/>
            <a:ext cx="2413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Product Plans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38" name="Google Shape;138;p24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370904" y="144961"/>
            <a:ext cx="1520944" cy="429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Slide" preserve="0" showMasterPhAnim="0" userDrawn="1">
  <p:cSld name="1_Section Slide">
    <p:bg>
      <p:bgPr shadeToTitle="0">
        <a:solidFill>
          <a:schemeClr val="dk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" name="Google Shape;140;p25" descr="Shape, circle&#10;&#10;Description automatically generated"/>
          <p:cNvPicPr/>
          <p:nvPr/>
        </p:nvPicPr>
        <p:blipFill>
          <a:blip r:embed="rId2">
            <a:alphaModFix/>
          </a:blip>
          <a:srcRect l="3157" t="3157" r="0" b="0"/>
          <a:stretch/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5"/>
          <p:cNvSpPr txBox="1"/>
          <p:nvPr>
            <p:ph type="body" idx="1"/>
          </p:nvPr>
        </p:nvSpPr>
        <p:spPr bwMode="auto">
          <a:xfrm>
            <a:off x="585788" y="925116"/>
            <a:ext cx="4900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xt over Hero Image" preserve="0" showMasterPhAnim="0" userDrawn="1">
  <p:cSld name="Text over Hero Imag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" name="Google Shape;143;p26" descr="A few men sitting at a table&#10;&#10;Description automatically generated with low confidence"/>
          <p:cNvPicPr/>
          <p:nvPr/>
        </p:nvPicPr>
        <p:blipFill>
          <a:blip r:embed="rId2">
            <a:alphaModFix/>
          </a:blip>
          <a:srcRect l="0" t="1286" r="0" b="1286"/>
          <a:stretch/>
        </p:blipFill>
        <p:spPr bwMode="auto">
          <a:xfrm>
            <a:off x="0" y="0"/>
            <a:ext cx="9143998" cy="514349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6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" name="Google Shape;145;p26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" name="Google Shape;146;p26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47" name="Google Shape;147;p26"/>
          <p:cNvSpPr txBox="1"/>
          <p:nvPr>
            <p:ph type="body" idx="1"/>
          </p:nvPr>
        </p:nvSpPr>
        <p:spPr bwMode="auto">
          <a:xfrm>
            <a:off x="620541" y="492919"/>
            <a:ext cx="4866000" cy="29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" name="Google Shape;148;p26"/>
          <p:cNvSpPr txBox="1"/>
          <p:nvPr>
            <p:ph type="body" idx="2"/>
          </p:nvPr>
        </p:nvSpPr>
        <p:spPr bwMode="auto">
          <a:xfrm>
            <a:off x="620544" y="522103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1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mage Left + Text" preserve="0" showMasterPhAnim="0" userDrawn="1">
  <p:cSld name="Image Left +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" name="Google Shape;150;p27" descr="Background pattern&#10;&#10;Description automatically generated"/>
          <p:cNvPicPr/>
          <p:nvPr/>
        </p:nvPicPr>
        <p:blipFill>
          <a:blip r:embed="rId2">
            <a:alphaModFix/>
          </a:blip>
          <a:srcRect l="0" t="3523" r="1105" b="4489"/>
          <a:stretch/>
        </p:blipFill>
        <p:spPr bwMode="auto">
          <a:xfrm rot="10800000">
            <a:off x="0" y="-7638"/>
            <a:ext cx="9144000" cy="515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7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52" name="Google Shape;152;p27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" name="Google Shape;153;p27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" name="Google Shape;154;p27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55" name="Google Shape;155;p27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56" name="Google Shape;156;p27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7"/>
          <p:cNvSpPr/>
          <p:nvPr>
            <p:ph type="pic" idx="2"/>
          </p:nvPr>
        </p:nvSpPr>
        <p:spPr bwMode="auto">
          <a:xfrm>
            <a:off x="438149" y="1168003"/>
            <a:ext cx="4134000" cy="3012600"/>
          </a:xfrm>
          <a:prstGeom prst="rect">
            <a:avLst/>
          </a:prstGeom>
          <a:noFill/>
          <a:ln>
            <a:noFill/>
          </a:ln>
        </p:spPr>
      </p:sp>
      <p:sp>
        <p:nvSpPr>
          <p:cNvPr id="158" name="Google Shape;158;p27"/>
          <p:cNvSpPr txBox="1"/>
          <p:nvPr>
            <p:ph type="body" idx="3"/>
          </p:nvPr>
        </p:nvSpPr>
        <p:spPr bwMode="auto">
          <a:xfrm>
            <a:off x="4902968" y="3116462"/>
            <a:ext cx="3969600" cy="13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" name="Google Shape;159;p27"/>
          <p:cNvSpPr txBox="1"/>
          <p:nvPr>
            <p:ph type="body" idx="4"/>
          </p:nvPr>
        </p:nvSpPr>
        <p:spPr bwMode="auto">
          <a:xfrm>
            <a:off x="4903196" y="1474514"/>
            <a:ext cx="3969300" cy="14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Image Left (Collage) + Text" preserve="0" showMasterPhAnim="0" userDrawn="1">
  <p:cSld name="Image Left (Collage) +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1" name="Google Shape;161;p28" descr="Background pattern&#10;&#10;Description automatically generated"/>
          <p:cNvPicPr/>
          <p:nvPr/>
        </p:nvPicPr>
        <p:blipFill>
          <a:blip r:embed="rId2">
            <a:alphaModFix/>
          </a:blip>
          <a:srcRect l="0" t="3523" r="1105" b="4489"/>
          <a:stretch/>
        </p:blipFill>
        <p:spPr bwMode="auto">
          <a:xfrm rot="10800000">
            <a:off x="0" y="-7638"/>
            <a:ext cx="9144000" cy="515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63" name="Google Shape;163;p28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" name="Google Shape;164;p28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" name="Google Shape;165;p28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66" name="Google Shape;166;p28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" name="Google Shape;167;p28"/>
          <p:cNvSpPr txBox="1"/>
          <p:nvPr>
            <p:ph type="title"/>
          </p:nvPr>
        </p:nvSpPr>
        <p:spPr bwMode="auto">
          <a:xfrm>
            <a:off x="4902967" y="1485107"/>
            <a:ext cx="3880800" cy="13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" name="Google Shape;168;p28"/>
          <p:cNvSpPr txBox="1"/>
          <p:nvPr/>
        </p:nvSpPr>
        <p:spPr bwMode="auto">
          <a:xfrm>
            <a:off x="4902967" y="3075633"/>
            <a:ext cx="3408000" cy="2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/>
            </a:pPr>
            <a:r>
              <a:rPr lang="en" sz="1400" b="0" i="0" u="none" strike="noStrike" cap="none">
                <a:solidFill>
                  <a:srgbClr val="2A3B73"/>
                </a:solidFill>
                <a:latin typeface="Verdana"/>
                <a:ea typeface="Verdana"/>
                <a:cs typeface="Verdana"/>
              </a:rPr>
              <a:t>Click to add text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169" name="Google Shape;169;p28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437953" y="1180214"/>
            <a:ext cx="3916709" cy="3221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 descr="A picture containing text, clipart&#10;&#10;Description automatically generated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lleted List + Image (Buildings)" preserve="0" showMasterPhAnim="0" userDrawn="1">
  <p:cSld name="Bulleted List + Image (Buildings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2" name="Google Shape;172;p29"/>
          <p:cNvPicPr/>
          <p:nvPr/>
        </p:nvPicPr>
        <p:blipFill>
          <a:blip r:embed="rId2">
            <a:alphaModFix/>
          </a:blip>
          <a:srcRect l="0" t="13753" r="0" b="13745"/>
          <a:stretch/>
        </p:blipFill>
        <p:spPr bwMode="auto">
          <a:xfrm>
            <a:off x="693491" y="316217"/>
            <a:ext cx="8450510" cy="482728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9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74" name="Google Shape;174;p29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" name="Google Shape;175;p29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" name="Google Shape;176;p29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77" name="Google Shape;177;p29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78" name="Google Shape;178;p29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9"/>
          <p:cNvSpPr txBox="1"/>
          <p:nvPr>
            <p:ph type="title"/>
          </p:nvPr>
        </p:nvSpPr>
        <p:spPr bwMode="auto">
          <a:xfrm>
            <a:off x="612321" y="934982"/>
            <a:ext cx="6202800" cy="95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80" name="Google Shape;180;p29"/>
          <p:cNvPicPr/>
          <p:nvPr/>
        </p:nvPicPr>
        <p:blipFill>
          <a:blip r:embed="rId4">
            <a:alphaModFix amt="65000"/>
          </a:blip>
          <a:srcRect l="0" t="0" r="0" b="0"/>
          <a:stretch/>
        </p:blipFill>
        <p:spPr bwMode="auto">
          <a:xfrm rot="2249444">
            <a:off x="616990" y="2544851"/>
            <a:ext cx="460378" cy="460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9"/>
          <p:cNvPicPr/>
          <p:nvPr/>
        </p:nvPicPr>
        <p:blipFill>
          <a:blip r:embed="rId4">
            <a:alphaModFix amt="65000"/>
          </a:blip>
          <a:srcRect l="0" t="0" r="0" b="0"/>
          <a:stretch/>
        </p:blipFill>
        <p:spPr bwMode="auto">
          <a:xfrm rot="2249444">
            <a:off x="616990" y="3350268"/>
            <a:ext cx="460378" cy="460378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>
            <p:ph type="body" idx="2"/>
          </p:nvPr>
        </p:nvSpPr>
        <p:spPr bwMode="auto">
          <a:xfrm>
            <a:off x="611981" y="1753791"/>
            <a:ext cx="4913700" cy="81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" name="Google Shape;183;p29"/>
          <p:cNvSpPr txBox="1"/>
          <p:nvPr>
            <p:ph type="body" idx="3"/>
          </p:nvPr>
        </p:nvSpPr>
        <p:spPr bwMode="auto">
          <a:xfrm>
            <a:off x="997745" y="2623835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" name="Google Shape;184;p29"/>
          <p:cNvSpPr txBox="1"/>
          <p:nvPr>
            <p:ph type="body" idx="4"/>
          </p:nvPr>
        </p:nvSpPr>
        <p:spPr bwMode="auto">
          <a:xfrm>
            <a:off x="997745" y="3420863"/>
            <a:ext cx="45267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-Column / Value Propositions" preserve="0" showMasterPhAnim="0" userDrawn="1">
  <p:cSld name="3-Column / Value Propositio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" name="Google Shape;186;p30" descr="Background pattern&#10;&#10;Description automatically generated"/>
          <p:cNvPicPr/>
          <p:nvPr/>
        </p:nvPicPr>
        <p:blipFill>
          <a:blip r:embed="rId2">
            <a:alphaModFix/>
          </a:blip>
          <a:srcRect l="0" t="3523" r="1105" b="4489"/>
          <a:stretch/>
        </p:blipFill>
        <p:spPr bwMode="auto">
          <a:xfrm rot="10800000">
            <a:off x="-3463981" y="14681"/>
            <a:ext cx="12607981" cy="515113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0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188" name="Google Shape;188;p30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" name="Google Shape;189;p30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0" name="Google Shape;190;p30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191" name="Google Shape;191;p30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92" name="Google Shape;192;p30" descr="A picture containing text, clipart&#10;&#10;Description automatically generated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3" name="Google Shape;193;p30"/>
          <p:cNvCxnSpPr>
            <a:cxnSpLocks/>
          </p:cNvCxnSpPr>
          <p:nvPr/>
        </p:nvCxnSpPr>
        <p:spPr bwMode="auto">
          <a:xfrm rot="10800000">
            <a:off x="6009477" y="2556375"/>
            <a:ext cx="0" cy="2263200"/>
          </a:xfrm>
          <a:prstGeom prst="straightConnector1">
            <a:avLst/>
          </a:prstGeom>
          <a:noFill/>
          <a:ln w="9525" cap="flat" cmpd="sng">
            <a:solidFill>
              <a:srgbClr val="D2EFF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94" name="Google Shape;194;p30"/>
          <p:cNvCxnSpPr>
            <a:cxnSpLocks/>
          </p:cNvCxnSpPr>
          <p:nvPr/>
        </p:nvCxnSpPr>
        <p:spPr bwMode="auto">
          <a:xfrm rot="10800000">
            <a:off x="3021911" y="2556375"/>
            <a:ext cx="0" cy="2263200"/>
          </a:xfrm>
          <a:prstGeom prst="straightConnector1">
            <a:avLst/>
          </a:prstGeom>
          <a:noFill/>
          <a:ln w="9525" cap="flat" cmpd="sng">
            <a:solidFill>
              <a:srgbClr val="D2EFF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5" name="Google Shape;195;p30"/>
          <p:cNvSpPr txBox="1"/>
          <p:nvPr>
            <p:ph type="body" idx="2"/>
          </p:nvPr>
        </p:nvSpPr>
        <p:spPr bwMode="auto">
          <a:xfrm>
            <a:off x="458904" y="2565385"/>
            <a:ext cx="2209800" cy="63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FEA"/>
              </a:buClr>
              <a:buSzPts val="1200"/>
              <a:buNone/>
              <a:defRPr sz="12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" name="Google Shape;196;p30"/>
          <p:cNvSpPr txBox="1"/>
          <p:nvPr>
            <p:ph type="body" idx="3"/>
          </p:nvPr>
        </p:nvSpPr>
        <p:spPr bwMode="auto">
          <a:xfrm>
            <a:off x="3338425" y="2565385"/>
            <a:ext cx="2209800" cy="63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FEA"/>
              </a:buClr>
              <a:buSzPts val="1200"/>
              <a:buNone/>
              <a:defRPr sz="12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" name="Google Shape;197;p30"/>
          <p:cNvSpPr txBox="1"/>
          <p:nvPr>
            <p:ph type="body" idx="4"/>
          </p:nvPr>
        </p:nvSpPr>
        <p:spPr bwMode="auto">
          <a:xfrm>
            <a:off x="6243363" y="2565385"/>
            <a:ext cx="2209800" cy="637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5FEA"/>
              </a:buClr>
              <a:buSzPts val="1200"/>
              <a:buNone/>
              <a:defRPr sz="12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" name="Google Shape;198;p30"/>
          <p:cNvSpPr txBox="1"/>
          <p:nvPr>
            <p:ph type="body" idx="5"/>
          </p:nvPr>
        </p:nvSpPr>
        <p:spPr bwMode="auto">
          <a:xfrm>
            <a:off x="458903" y="3308745"/>
            <a:ext cx="2457600" cy="13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" name="Google Shape;199;p30"/>
          <p:cNvSpPr txBox="1"/>
          <p:nvPr>
            <p:ph type="body" idx="6"/>
          </p:nvPr>
        </p:nvSpPr>
        <p:spPr bwMode="auto">
          <a:xfrm>
            <a:off x="3338058" y="3311857"/>
            <a:ext cx="2455200" cy="13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" name="Google Shape;200;p30"/>
          <p:cNvSpPr txBox="1"/>
          <p:nvPr>
            <p:ph type="body" idx="7"/>
          </p:nvPr>
        </p:nvSpPr>
        <p:spPr bwMode="auto">
          <a:xfrm>
            <a:off x="6243361" y="3323676"/>
            <a:ext cx="2455200" cy="13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  <a:defRPr sz="900">
                <a:solidFill>
                  <a:srgbClr val="000000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" name="Google Shape;201;p30"/>
          <p:cNvSpPr/>
          <p:nvPr>
            <p:ph type="pic" idx="8"/>
          </p:nvPr>
        </p:nvSpPr>
        <p:spPr bwMode="auto">
          <a:xfrm>
            <a:off x="752720" y="879222"/>
            <a:ext cx="1509000" cy="15090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30"/>
          <p:cNvSpPr/>
          <p:nvPr>
            <p:ph type="pic" idx="9"/>
          </p:nvPr>
        </p:nvSpPr>
        <p:spPr bwMode="auto">
          <a:xfrm>
            <a:off x="3754659" y="883458"/>
            <a:ext cx="1509000" cy="15090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30"/>
          <p:cNvSpPr/>
          <p:nvPr>
            <p:ph type="pic" idx="13"/>
          </p:nvPr>
        </p:nvSpPr>
        <p:spPr bwMode="auto">
          <a:xfrm>
            <a:off x="6593883" y="882622"/>
            <a:ext cx="1509000" cy="150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ulleted list + Stats" preserve="0" showMasterPhAnim="0" userDrawn="1">
  <p:cSld name="Bulleted list + Sta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" name="Google Shape;205;p31"/>
          <p:cNvSpPr/>
          <p:nvPr/>
        </p:nvSpPr>
        <p:spPr bwMode="auto">
          <a:xfrm>
            <a:off x="4394115" y="748955"/>
            <a:ext cx="5070000" cy="45546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cxnSp>
        <p:nvCxnSpPr>
          <p:cNvPr id="206" name="Google Shape;206;p31"/>
          <p:cNvCxnSpPr>
            <a:cxnSpLocks/>
          </p:cNvCxnSpPr>
          <p:nvPr/>
        </p:nvCxnSpPr>
        <p:spPr bwMode="auto">
          <a:xfrm>
            <a:off x="5181510" y="3210649"/>
            <a:ext cx="2796000" cy="0"/>
          </a:xfrm>
          <a:prstGeom prst="straightConnector1">
            <a:avLst/>
          </a:prstGeom>
          <a:noFill/>
          <a:ln w="9525" cap="flat" cmpd="sng">
            <a:solidFill>
              <a:srgbClr val="FBCB99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7" name="Google Shape;207;p31"/>
          <p:cNvCxnSpPr>
            <a:cxnSpLocks/>
          </p:cNvCxnSpPr>
          <p:nvPr/>
        </p:nvCxnSpPr>
        <p:spPr bwMode="auto">
          <a:xfrm>
            <a:off x="346569" y="2476541"/>
            <a:ext cx="3678900" cy="0"/>
          </a:xfrm>
          <a:prstGeom prst="straightConnector1">
            <a:avLst/>
          </a:prstGeom>
          <a:noFill/>
          <a:ln w="9525" cap="flat" cmpd="sng">
            <a:solidFill>
              <a:srgbClr val="D2D0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8" name="Google Shape;208;p31"/>
          <p:cNvCxnSpPr>
            <a:cxnSpLocks/>
          </p:cNvCxnSpPr>
          <p:nvPr/>
        </p:nvCxnSpPr>
        <p:spPr bwMode="auto">
          <a:xfrm>
            <a:off x="346569" y="3406442"/>
            <a:ext cx="3678900" cy="0"/>
          </a:xfrm>
          <a:prstGeom prst="straightConnector1">
            <a:avLst/>
          </a:prstGeom>
          <a:noFill/>
          <a:ln w="9525" cap="flat" cmpd="sng">
            <a:solidFill>
              <a:srgbClr val="D2D0C4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9" name="Google Shape;209;p31"/>
          <p:cNvCxnSpPr>
            <a:cxnSpLocks/>
          </p:cNvCxnSpPr>
          <p:nvPr/>
        </p:nvCxnSpPr>
        <p:spPr bwMode="auto">
          <a:xfrm>
            <a:off x="346569" y="4273256"/>
            <a:ext cx="3678900" cy="0"/>
          </a:xfrm>
          <a:prstGeom prst="straightConnector1">
            <a:avLst/>
          </a:prstGeom>
          <a:noFill/>
          <a:ln w="9525" cap="flat" cmpd="sng">
            <a:solidFill>
              <a:srgbClr val="D2D0C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0" name="Google Shape;210;p31"/>
          <p:cNvSpPr/>
          <p:nvPr>
            <p:ph type="pic" idx="2"/>
          </p:nvPr>
        </p:nvSpPr>
        <p:spPr bwMode="auto">
          <a:xfrm>
            <a:off x="6558447" y="774207"/>
            <a:ext cx="2654100" cy="4369200"/>
          </a:xfrm>
          <a:prstGeom prst="rect">
            <a:avLst/>
          </a:prstGeom>
          <a:noFill/>
          <a:ln>
            <a:noFill/>
          </a:ln>
        </p:spPr>
      </p:sp>
      <p:sp>
        <p:nvSpPr>
          <p:cNvPr id="211" name="Google Shape;211;p31"/>
          <p:cNvSpPr txBox="1"/>
          <p:nvPr>
            <p:ph type="body" idx="1"/>
          </p:nvPr>
        </p:nvSpPr>
        <p:spPr bwMode="auto">
          <a:xfrm>
            <a:off x="297587" y="1775222"/>
            <a:ext cx="25800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" name="Google Shape;212;p31"/>
          <p:cNvSpPr txBox="1"/>
          <p:nvPr>
            <p:ph type="body" idx="3"/>
          </p:nvPr>
        </p:nvSpPr>
        <p:spPr bwMode="auto">
          <a:xfrm>
            <a:off x="297587" y="2699561"/>
            <a:ext cx="345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" name="Google Shape;213;p31"/>
          <p:cNvSpPr txBox="1"/>
          <p:nvPr>
            <p:ph type="body" idx="4"/>
          </p:nvPr>
        </p:nvSpPr>
        <p:spPr bwMode="auto">
          <a:xfrm>
            <a:off x="297587" y="3584144"/>
            <a:ext cx="3453600" cy="59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" name="Google Shape;214;p31"/>
          <p:cNvSpPr txBox="1"/>
          <p:nvPr>
            <p:ph type="body" idx="5"/>
          </p:nvPr>
        </p:nvSpPr>
        <p:spPr bwMode="auto">
          <a:xfrm>
            <a:off x="297587" y="4468727"/>
            <a:ext cx="3453600" cy="36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5" name="Google Shape;215;p31"/>
          <p:cNvSpPr/>
          <p:nvPr>
            <p:ph type="pic" idx="6"/>
          </p:nvPr>
        </p:nvSpPr>
        <p:spPr bwMode="auto">
          <a:xfrm>
            <a:off x="2927411" y="1773145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6" name="Google Shape;216;p31"/>
          <p:cNvSpPr/>
          <p:nvPr>
            <p:ph type="pic" idx="7"/>
          </p:nvPr>
        </p:nvSpPr>
        <p:spPr bwMode="auto">
          <a:xfrm>
            <a:off x="3462024" y="1773145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31"/>
          <p:cNvSpPr/>
          <p:nvPr>
            <p:ph type="pic" idx="8"/>
          </p:nvPr>
        </p:nvSpPr>
        <p:spPr bwMode="auto">
          <a:xfrm>
            <a:off x="2936286" y="2146436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31"/>
          <p:cNvSpPr txBox="1"/>
          <p:nvPr>
            <p:ph type="body" idx="9"/>
          </p:nvPr>
        </p:nvSpPr>
        <p:spPr bwMode="auto">
          <a:xfrm>
            <a:off x="4738634" y="1000676"/>
            <a:ext cx="1165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800A"/>
              </a:buClr>
              <a:buSzPts val="2600"/>
              <a:buNone/>
              <a:defRPr sz="2600" b="1">
                <a:solidFill>
                  <a:srgbClr val="F0800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9" name="Google Shape;219;p31"/>
          <p:cNvSpPr txBox="1"/>
          <p:nvPr>
            <p:ph type="body" idx="13"/>
          </p:nvPr>
        </p:nvSpPr>
        <p:spPr bwMode="auto">
          <a:xfrm>
            <a:off x="4738878" y="1686476"/>
            <a:ext cx="11316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800A"/>
              </a:buClr>
              <a:buSzPts val="2600"/>
              <a:buNone/>
              <a:defRPr sz="2600" b="1">
                <a:solidFill>
                  <a:srgbClr val="F0800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0" name="Google Shape;220;p31"/>
          <p:cNvSpPr txBox="1"/>
          <p:nvPr>
            <p:ph type="body" idx="14"/>
          </p:nvPr>
        </p:nvSpPr>
        <p:spPr bwMode="auto">
          <a:xfrm>
            <a:off x="4738635" y="2454572"/>
            <a:ext cx="1132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800A"/>
              </a:buClr>
              <a:buSzPts val="2600"/>
              <a:buNone/>
              <a:defRPr sz="2600" b="1">
                <a:solidFill>
                  <a:srgbClr val="F0800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1" name="Google Shape;221;p31"/>
          <p:cNvSpPr txBox="1"/>
          <p:nvPr>
            <p:ph type="body" idx="15"/>
          </p:nvPr>
        </p:nvSpPr>
        <p:spPr bwMode="auto">
          <a:xfrm>
            <a:off x="4784352" y="1391542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2" name="Google Shape;222;p31"/>
          <p:cNvSpPr txBox="1"/>
          <p:nvPr>
            <p:ph type="body" idx="16"/>
          </p:nvPr>
        </p:nvSpPr>
        <p:spPr bwMode="auto">
          <a:xfrm>
            <a:off x="4784352" y="2077342"/>
            <a:ext cx="1131000" cy="2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3" name="Google Shape;223;p31"/>
          <p:cNvSpPr txBox="1"/>
          <p:nvPr>
            <p:ph type="body" idx="17"/>
          </p:nvPr>
        </p:nvSpPr>
        <p:spPr bwMode="auto">
          <a:xfrm>
            <a:off x="4784352" y="2851065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4" name="Google Shape;224;p31"/>
          <p:cNvSpPr txBox="1"/>
          <p:nvPr>
            <p:ph type="body" idx="18"/>
          </p:nvPr>
        </p:nvSpPr>
        <p:spPr bwMode="auto">
          <a:xfrm>
            <a:off x="4688872" y="3387017"/>
            <a:ext cx="17319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0800A"/>
              </a:buClr>
              <a:buSzPts val="1100"/>
              <a:buNone/>
              <a:defRPr sz="1100" b="1">
                <a:solidFill>
                  <a:srgbClr val="F0800A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5" name="Google Shape;225;p31"/>
          <p:cNvSpPr txBox="1"/>
          <p:nvPr>
            <p:ph type="body" idx="19"/>
          </p:nvPr>
        </p:nvSpPr>
        <p:spPr bwMode="auto">
          <a:xfrm>
            <a:off x="4688871" y="3908182"/>
            <a:ext cx="1731900" cy="10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800" b="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6" name="Google Shape;226;p31"/>
          <p:cNvSpPr/>
          <p:nvPr>
            <p:ph type="pic" idx="20"/>
          </p:nvPr>
        </p:nvSpPr>
        <p:spPr bwMode="auto">
          <a:xfrm>
            <a:off x="288131" y="814905"/>
            <a:ext cx="1563599" cy="5769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1"/>
          <p:cNvSpPr/>
          <p:nvPr>
            <p:ph type="pic" idx="21"/>
          </p:nvPr>
        </p:nvSpPr>
        <p:spPr bwMode="auto">
          <a:xfrm>
            <a:off x="3454446" y="2146436"/>
            <a:ext cx="477600" cy="2643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1"/>
          <p:cNvSpPr txBox="1"/>
          <p:nvPr>
            <p:ph type="body" idx="22"/>
          </p:nvPr>
        </p:nvSpPr>
        <p:spPr bwMode="auto">
          <a:xfrm>
            <a:off x="288131" y="288131"/>
            <a:ext cx="37374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xt + Stats" preserve="0" showMasterPhAnim="0" userDrawn="1">
  <p:cSld name="Text + Sta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0" name="Google Shape;230;p32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1" name="Google Shape;231;p32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2" name="Google Shape;232;p32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sp>
        <p:nvSpPr>
          <p:cNvPr id="233" name="Google Shape;233;p32"/>
          <p:cNvSpPr/>
          <p:nvPr/>
        </p:nvSpPr>
        <p:spPr bwMode="auto">
          <a:xfrm>
            <a:off x="0" y="-7633"/>
            <a:ext cx="9144000" cy="42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234" name="Google Shape;234;p32"/>
          <p:cNvSpPr txBox="1"/>
          <p:nvPr>
            <p:ph type="body" idx="1"/>
          </p:nvPr>
        </p:nvSpPr>
        <p:spPr bwMode="auto">
          <a:xfrm>
            <a:off x="153617" y="121090"/>
            <a:ext cx="22479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C9EDF6"/>
              </a:buClr>
              <a:buSzPts val="900"/>
              <a:buNone/>
              <a:defRPr sz="900" b="1">
                <a:solidFill>
                  <a:srgbClr val="C9EDF6"/>
                </a:solidFill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235" name="Google Shape;235;p32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2"/>
          <p:cNvSpPr/>
          <p:nvPr/>
        </p:nvSpPr>
        <p:spPr bwMode="auto">
          <a:xfrm>
            <a:off x="-72688" y="2988317"/>
            <a:ext cx="3294600" cy="1772100"/>
          </a:xfrm>
          <a:prstGeom prst="roundRect">
            <a:avLst>
              <a:gd name="adj" fmla="val 4800"/>
            </a:avLst>
          </a:prstGeom>
          <a:solidFill>
            <a:srgbClr val="005FEA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237" name="Google Shape;237;p32"/>
          <p:cNvSpPr/>
          <p:nvPr/>
        </p:nvSpPr>
        <p:spPr bwMode="auto">
          <a:xfrm>
            <a:off x="3588352" y="832407"/>
            <a:ext cx="1957200" cy="3934500"/>
          </a:xfrm>
          <a:prstGeom prst="roundRect">
            <a:avLst>
              <a:gd name="adj" fmla="val 4800"/>
            </a:avLst>
          </a:prstGeom>
          <a:solidFill>
            <a:srgbClr val="F4F2ED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</a:endParaRPr>
          </a:p>
        </p:txBody>
      </p:sp>
      <p:sp>
        <p:nvSpPr>
          <p:cNvPr id="238" name="Google Shape;238;p32"/>
          <p:cNvSpPr txBox="1"/>
          <p:nvPr>
            <p:ph type="body" idx="2"/>
          </p:nvPr>
        </p:nvSpPr>
        <p:spPr bwMode="auto">
          <a:xfrm>
            <a:off x="226189" y="1092943"/>
            <a:ext cx="2995500" cy="14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2pPr>
            <a:lvl3pPr marL="1371600" lvl="2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9" name="Google Shape;239;p32"/>
          <p:cNvSpPr txBox="1"/>
          <p:nvPr>
            <p:ph type="body" idx="3"/>
          </p:nvPr>
        </p:nvSpPr>
        <p:spPr bwMode="auto">
          <a:xfrm>
            <a:off x="450242" y="3264041"/>
            <a:ext cx="2726699" cy="100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 b="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latin typeface="Verdana"/>
                <a:ea typeface="Verdana"/>
                <a:cs typeface="Verdana"/>
              </a:defRPr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0" name="Google Shape;240;p32"/>
          <p:cNvSpPr/>
          <p:nvPr>
            <p:ph type="pic" idx="4"/>
          </p:nvPr>
        </p:nvSpPr>
        <p:spPr bwMode="auto">
          <a:xfrm>
            <a:off x="5397508" y="413239"/>
            <a:ext cx="3747000" cy="47301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2"/>
          <p:cNvSpPr txBox="1"/>
          <p:nvPr>
            <p:ph type="body" idx="5"/>
          </p:nvPr>
        </p:nvSpPr>
        <p:spPr bwMode="auto">
          <a:xfrm>
            <a:off x="3868145" y="1087608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FEA"/>
              </a:buClr>
              <a:buSzPts val="2300"/>
              <a:buNone/>
              <a:defRPr sz="23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2" name="Google Shape;242;p32"/>
          <p:cNvSpPr txBox="1"/>
          <p:nvPr>
            <p:ph type="body" idx="6"/>
          </p:nvPr>
        </p:nvSpPr>
        <p:spPr bwMode="auto">
          <a:xfrm>
            <a:off x="3913862" y="1478474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3" name="Google Shape;243;p32"/>
          <p:cNvSpPr txBox="1"/>
          <p:nvPr>
            <p:ph type="body" idx="7"/>
          </p:nvPr>
        </p:nvSpPr>
        <p:spPr bwMode="auto">
          <a:xfrm>
            <a:off x="3868145" y="2039156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FEA"/>
              </a:buClr>
              <a:buSzPts val="2300"/>
              <a:buNone/>
              <a:defRPr sz="23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4" name="Google Shape;244;p32"/>
          <p:cNvSpPr txBox="1"/>
          <p:nvPr>
            <p:ph type="body" idx="8"/>
          </p:nvPr>
        </p:nvSpPr>
        <p:spPr bwMode="auto">
          <a:xfrm>
            <a:off x="3913862" y="2430022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5" name="Google Shape;245;p32"/>
          <p:cNvSpPr txBox="1"/>
          <p:nvPr>
            <p:ph type="body" idx="9"/>
          </p:nvPr>
        </p:nvSpPr>
        <p:spPr bwMode="auto">
          <a:xfrm>
            <a:off x="3868145" y="2939268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5FEA"/>
              </a:buClr>
              <a:buSzPts val="2300"/>
              <a:buNone/>
              <a:defRPr sz="2300" b="1">
                <a:solidFill>
                  <a:srgbClr val="005FEA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6" name="Google Shape;246;p32"/>
          <p:cNvSpPr txBox="1"/>
          <p:nvPr>
            <p:ph type="body" idx="13"/>
          </p:nvPr>
        </p:nvSpPr>
        <p:spPr bwMode="auto">
          <a:xfrm>
            <a:off x="3913862" y="3330134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7" name="Google Shape;247;p32"/>
          <p:cNvSpPr txBox="1"/>
          <p:nvPr>
            <p:ph type="body" idx="14"/>
          </p:nvPr>
        </p:nvSpPr>
        <p:spPr bwMode="auto">
          <a:xfrm>
            <a:off x="3868145" y="3873670"/>
            <a:ext cx="1378200" cy="39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2300"/>
              <a:buNone/>
              <a:defRPr sz="23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8" name="Google Shape;248;p32"/>
          <p:cNvSpPr txBox="1"/>
          <p:nvPr>
            <p:ph type="body" idx="15"/>
          </p:nvPr>
        </p:nvSpPr>
        <p:spPr bwMode="auto">
          <a:xfrm>
            <a:off x="3913862" y="4264537"/>
            <a:ext cx="1165200" cy="1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latin typeface="Verdana"/>
                <a:ea typeface="Verdana"/>
                <a:cs typeface="Verdana"/>
              </a:defRPr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9" name="Google Shape;249;p32"/>
          <p:cNvSpPr txBox="1"/>
          <p:nvPr>
            <p:ph type="body" idx="16"/>
          </p:nvPr>
        </p:nvSpPr>
        <p:spPr bwMode="auto">
          <a:xfrm>
            <a:off x="450056" y="4451747"/>
            <a:ext cx="2726699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Verdana"/>
                <a:ea typeface="Verdana"/>
                <a:cs typeface="Verdana"/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llWith_Table" preserve="0" showMasterPhAnim="0" userDrawn="1">
  <p:cSld name="SellWith_Tab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1" name="Google Shape;251;p33"/>
          <p:cNvSpPr/>
          <p:nvPr/>
        </p:nvSpPr>
        <p:spPr bwMode="auto">
          <a:xfrm>
            <a:off x="0" y="-7634"/>
            <a:ext cx="9144000" cy="1118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0" i="0" u="none" strike="noStrike" cap="none">
              <a:solidFill>
                <a:schemeClr val="dk2"/>
              </a:solidFill>
              <a:latin typeface="Verdana"/>
              <a:ea typeface="Verdana"/>
              <a:cs typeface="Verdana"/>
            </a:endParaRPr>
          </a:p>
        </p:txBody>
      </p:sp>
      <p:pic>
        <p:nvPicPr>
          <p:cNvPr id="252" name="Google Shape;252;p33" descr="A picture containing text, clipart&#10;&#10;Description automatically generated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972282" y="108468"/>
            <a:ext cx="955224" cy="19862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 txBox="1"/>
          <p:nvPr/>
        </p:nvSpPr>
        <p:spPr bwMode="auto">
          <a:xfrm>
            <a:off x="2000625" y="283164"/>
            <a:ext cx="2413200" cy="2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/>
            </a:pPr>
            <a:r>
              <a:rPr lang="en"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Product Plans</a:t>
            </a:r>
            <a:endParaRPr sz="12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54" name="Google Shape;254;p33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383943" y="144961"/>
            <a:ext cx="1467292" cy="3646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right Blue" preserve="0" showMasterPhAnim="0" userDrawn="1">
  <p:cSld name="Bright Blue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  <a:defRPr sz="4200">
                <a:solidFill>
                  <a:schemeClr val="lt1"/>
                </a:solidFill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7" name="Google Shape;257;p34"/>
          <p:cNvSpPr txBox="1"/>
          <p:nvPr>
            <p:ph type="subTitle" idx="1"/>
          </p:nvPr>
        </p:nvSpPr>
        <p:spPr bwMode="auto"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>
                <a:solidFill>
                  <a:schemeClr val="lt2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58" name="Google Shape;258;p34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9" name="Google Shape;259;p34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0" name="Google Shape;260;p34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pic>
        <p:nvPicPr>
          <p:cNvPr id="261" name="Google Shape;261;p34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453245" y="251374"/>
            <a:ext cx="1318406" cy="273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White" preserve="0" showMasterPhAnim="0" userDrawn="1">
  <p:cSld name="Whi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 txBox="1"/>
          <p:nvPr>
            <p:ph type="ctrTitle"/>
          </p:nvPr>
        </p:nvSpPr>
        <p:spPr bwMode="auto"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4" name="Google Shape;264;p35"/>
          <p:cNvSpPr txBox="1"/>
          <p:nvPr>
            <p:ph type="subTitle" idx="1"/>
          </p:nvPr>
        </p:nvSpPr>
        <p:spPr bwMode="auto"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65" name="Google Shape;265;p35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6" name="Google Shape;266;p35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7" name="Google Shape;267;p35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pic>
        <p:nvPicPr>
          <p:cNvPr id="268" name="Google Shape;268;p35" descr="Logo&#10;&#10;Description automatically generated with medium confidence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454914" y="251374"/>
            <a:ext cx="1316736" cy="27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 txBox="1"/>
          <p:nvPr>
            <p:ph type="title"/>
          </p:nvPr>
        </p:nvSpPr>
        <p:spPr bwMode="auto">
          <a:xfrm>
            <a:off x="628650" y="714375"/>
            <a:ext cx="7886700" cy="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1" name="Google Shape;271;p36"/>
          <p:cNvSpPr txBox="1"/>
          <p:nvPr>
            <p:ph type="body" idx="1"/>
          </p:nvPr>
        </p:nvSpPr>
        <p:spPr bwMode="auto">
          <a:xfrm>
            <a:off x="628650" y="1457519"/>
            <a:ext cx="7886700" cy="31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2" name="Google Shape;272;p36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3" name="Google Shape;273;p36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4" name="Google Shape;274;p36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  <p:pic>
        <p:nvPicPr>
          <p:cNvPr id="275" name="Google Shape;275;p36" descr="Logo&#10;&#10;Description automatically generated with medium confidence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454914" y="251374"/>
            <a:ext cx="1316736" cy="27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7" name="Google Shape;277;p37"/>
          <p:cNvSpPr txBox="1"/>
          <p:nvPr>
            <p:ph type="title"/>
          </p:nvPr>
        </p:nvSpPr>
        <p:spPr bwMode="auto"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Arial"/>
              <a:buNone/>
              <a:defRPr sz="38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8" name="Google Shape;278;p37"/>
          <p:cNvSpPr txBox="1"/>
          <p:nvPr>
            <p:ph type="body" idx="1"/>
          </p:nvPr>
        </p:nvSpPr>
        <p:spPr bwMode="auto"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99E"/>
              </a:buClr>
              <a:buSzPts val="1800"/>
              <a:buNone/>
              <a:defRPr sz="1800">
                <a:solidFill>
                  <a:srgbClr val="88899E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500"/>
              <a:buNone/>
              <a:defRPr sz="1500">
                <a:solidFill>
                  <a:srgbClr val="88899E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400"/>
              <a:buNone/>
              <a:defRPr sz="1400">
                <a:solidFill>
                  <a:srgbClr val="88899E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99E"/>
              </a:buClr>
              <a:buSzPts val="1200"/>
              <a:buNone/>
              <a:defRPr sz="1200">
                <a:solidFill>
                  <a:srgbClr val="88899E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79" name="Google Shape;279;p37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0" name="Google Shape;280;p37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1" name="Google Shape;281;p37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3" name="Google Shape;283;p38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4" name="Google Shape;284;p38"/>
          <p:cNvSpPr txBox="1"/>
          <p:nvPr>
            <p:ph type="body" idx="1"/>
          </p:nvPr>
        </p:nvSpPr>
        <p:spPr bwMode="auto">
          <a:xfrm>
            <a:off x="628650" y="13692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5" name="Google Shape;285;p38"/>
          <p:cNvSpPr txBox="1"/>
          <p:nvPr>
            <p:ph type="body" idx="2"/>
          </p:nvPr>
        </p:nvSpPr>
        <p:spPr bwMode="auto">
          <a:xfrm>
            <a:off x="4629150" y="1369218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6" name="Google Shape;286;p38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7" name="Google Shape;287;p38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8" name="Google Shape;288;p38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" name="Google Shape;290;p39"/>
          <p:cNvSpPr txBox="1"/>
          <p:nvPr>
            <p:ph type="title"/>
          </p:nvPr>
        </p:nvSpPr>
        <p:spPr bwMode="auto"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1" name="Google Shape;291;p39"/>
          <p:cNvSpPr txBox="1"/>
          <p:nvPr>
            <p:ph type="body" idx="1"/>
          </p:nvPr>
        </p:nvSpPr>
        <p:spPr bwMode="auto"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292" name="Google Shape;292;p39"/>
          <p:cNvSpPr txBox="1"/>
          <p:nvPr>
            <p:ph type="body" idx="2"/>
          </p:nvPr>
        </p:nvSpPr>
        <p:spPr bwMode="auto"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3" name="Google Shape;293;p39"/>
          <p:cNvSpPr txBox="1"/>
          <p:nvPr>
            <p:ph type="body" idx="3"/>
          </p:nvPr>
        </p:nvSpPr>
        <p:spPr bwMode="auto"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pPr>
              <a:defRPr/>
            </a:pPr>
            <a:endParaRPr/>
          </a:p>
        </p:txBody>
      </p:sp>
      <p:sp>
        <p:nvSpPr>
          <p:cNvPr id="294" name="Google Shape;294;p39"/>
          <p:cNvSpPr txBox="1"/>
          <p:nvPr>
            <p:ph type="body" idx="4"/>
          </p:nvPr>
        </p:nvSpPr>
        <p:spPr bwMode="auto"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5" name="Google Shape;295;p39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6" name="Google Shape;296;p39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7" name="Google Shape;297;p39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" name="Google Shape;299;p40"/>
          <p:cNvSpPr txBox="1"/>
          <p:nvPr>
            <p:ph type="title"/>
          </p:nvPr>
        </p:nvSpPr>
        <p:spPr bwMode="auto"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0" name="Google Shape;300;p40"/>
          <p:cNvSpPr/>
          <p:nvPr>
            <p:ph type="pic" idx="2"/>
          </p:nvPr>
        </p:nvSpPr>
        <p:spPr bwMode="auto"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01" name="Google Shape;301;p40"/>
          <p:cNvSpPr txBox="1"/>
          <p:nvPr>
            <p:ph type="body" idx="1"/>
          </p:nvPr>
        </p:nvSpPr>
        <p:spPr bwMode="auto"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pPr>
              <a:defRPr/>
            </a:pPr>
            <a:endParaRPr/>
          </a:p>
        </p:txBody>
      </p:sp>
      <p:sp>
        <p:nvSpPr>
          <p:cNvPr id="302" name="Google Shape;302;p40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3" name="Google Shape;303;p40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4" name="Google Shape;304;p40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7" name="Google Shape;307;p41"/>
          <p:cNvSpPr txBox="1"/>
          <p:nvPr>
            <p:ph type="body" idx="1"/>
          </p:nvPr>
        </p:nvSpPr>
        <p:spPr bwMode="auto">
          <a:xfrm rot="5400000">
            <a:off x="2940300" y="-942430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8" name="Google Shape;308;p41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9" name="Google Shape;309;p41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0" name="Google Shape;310;p41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2" name="Google Shape;312;p42"/>
          <p:cNvSpPr txBox="1"/>
          <p:nvPr>
            <p:ph type="title"/>
          </p:nvPr>
        </p:nvSpPr>
        <p:spPr bwMode="auto"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>
                <a:latin typeface="Arial"/>
                <a:ea typeface="Arial"/>
                <a:cs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3" name="Google Shape;313;p42"/>
          <p:cNvSpPr txBox="1"/>
          <p:nvPr>
            <p:ph type="body" idx="1"/>
          </p:nvPr>
        </p:nvSpPr>
        <p:spPr bwMode="auto"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4" name="Google Shape;314;p42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5" name="Google Shape;315;p42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6" name="Google Shape;316;p42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8" name="Google Shape;318;p43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9" name="Google Shape;319;p43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0" name="Google Shape;320;p4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 bwMode="auto"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None/>
              <a:defRPr sz="23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2" name="Google Shape;52;p13"/>
          <p:cNvSpPr txBox="1"/>
          <p:nvPr>
            <p:ph type="body" idx="1"/>
          </p:nvPr>
        </p:nvSpPr>
        <p:spPr bwMode="auto">
          <a:xfrm>
            <a:off x="628650" y="1369218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3" name="Google Shape;53;p13"/>
          <p:cNvSpPr txBox="1"/>
          <p:nvPr>
            <p:ph type="dt" idx="10"/>
          </p:nvPr>
        </p:nvSpPr>
        <p:spPr bwMode="auto"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4" name="Google Shape;54;p13"/>
          <p:cNvSpPr txBox="1"/>
          <p:nvPr>
            <p:ph type="ftr" idx="11"/>
          </p:nvPr>
        </p:nvSpPr>
        <p:spPr bwMode="auto"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55" name="Google Shape;55;p13"/>
          <p:cNvSpPr txBox="1"/>
          <p:nvPr>
            <p:ph type="sldNum" idx="12"/>
          </p:nvPr>
        </p:nvSpPr>
        <p:spPr bwMode="auto"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99E"/>
                </a:solidFill>
                <a:latin typeface="Verdana"/>
                <a:ea typeface="Verdana"/>
                <a:cs typeface="Verdana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</p:sldLayoutIdLst>
  <p:hf dt="0" ftr="0" hdr="0" sldNum="0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vewith.atlassian.net/browse/PLT-8452" TargetMode="External"/><Relationship Id="rId3" Type="http://schemas.openxmlformats.org/officeDocument/2006/relationships/hyperlink" Target="https://givewith.atlassian.net/browse/PLT-8593" TargetMode="External"/><Relationship Id="rId4" Type="http://schemas.openxmlformats.org/officeDocument/2006/relationships/hyperlink" Target="https://givewith.atlassian.net/browse/PLT-8573" TargetMode="External"/><Relationship Id="rId5" Type="http://schemas.openxmlformats.org/officeDocument/2006/relationships/hyperlink" Target="https://givewith.atlassian.net/browse/PLT-8504" TargetMode="Externa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vewith.atlassian.net/browse/PLT-8452" TargetMode="External"/><Relationship Id="rId3" Type="http://schemas.openxmlformats.org/officeDocument/2006/relationships/hyperlink" Target="https://givewith.atlassian.net/browse/PLT-8593" TargetMode="External"/><Relationship Id="rId4" Type="http://schemas.openxmlformats.org/officeDocument/2006/relationships/hyperlink" Target="https://givewith.atlassian.net/browse/PLT-8573" TargetMode="External"/><Relationship Id="rId5" Type="http://schemas.openxmlformats.org/officeDocument/2006/relationships/hyperlink" Target="https://givewith.atlassian.net/browse/PLT-850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" name="Google Shape;375;p51"/>
          <p:cNvSpPr txBox="1"/>
          <p:nvPr>
            <p:ph type="body" idx="2"/>
          </p:nvPr>
        </p:nvSpPr>
        <p:spPr bwMode="auto">
          <a:xfrm>
            <a:off x="585750" y="3402788"/>
            <a:ext cx="5124300" cy="5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pPr>
            <a:endParaRPr sz="1500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pPr>
            <a:endParaRPr/>
          </a:p>
          <a:p>
            <a:pPr marL="0" lvl="0" indent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/>
            </a:pPr>
            <a:endParaRPr/>
          </a:p>
        </p:txBody>
      </p:sp>
      <p:sp>
        <p:nvSpPr>
          <p:cNvPr id="376" name="Google Shape;376;p51"/>
          <p:cNvSpPr txBox="1"/>
          <p:nvPr>
            <p:ph type="body" idx="3"/>
          </p:nvPr>
        </p:nvSpPr>
        <p:spPr bwMode="auto">
          <a:xfrm>
            <a:off x="585788" y="1262381"/>
            <a:ext cx="7812900" cy="11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/>
            </a:pPr>
            <a:r>
              <a:rPr lang="en"/>
              <a:t>Demos</a:t>
            </a:r>
            <a:endParaRPr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1" name="Google Shape;431;p59"/>
          <p:cNvSpPr txBox="1"/>
          <p:nvPr>
            <p:ph type="body" idx="1"/>
          </p:nvPr>
        </p:nvSpPr>
        <p:spPr bwMode="auto">
          <a:xfrm>
            <a:off x="138376" y="65942"/>
            <a:ext cx="6933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/>
            </a:pPr>
            <a:r>
              <a:rPr lang="en" sz="1400"/>
              <a:t>Current Sprint (23.16) Goals </a:t>
            </a:r>
            <a:endParaRPr sz="1400"/>
          </a:p>
        </p:txBody>
      </p:sp>
      <p:graphicFrame>
        <p:nvGraphicFramePr>
          <p:cNvPr id="432" name="Google Shape;432;p59"/>
          <p:cNvGraphicFramePr>
            <a:graphicFrameLocks xmlns:a="http://schemas.openxmlformats.org/drawingml/2006/main"/>
          </p:cNvGraphicFramePr>
          <p:nvPr/>
        </p:nvGraphicFramePr>
        <p:xfrm>
          <a:off x="272306" y="603263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{A36105F6-0E29-4033-AB89-67721543B515}</a:tableStyleId>
                <a:noFill/>
              </a:tblPr>
              <a:tblGrid>
                <a:gridCol w="182149"/>
                <a:gridCol w="794100"/>
                <a:gridCol w="695900"/>
                <a:gridCol w="1165349"/>
                <a:gridCol w="1865550"/>
                <a:gridCol w="1668975"/>
                <a:gridCol w="2026850"/>
              </a:tblGrid>
              <a:tr h="2481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#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Objective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Who?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is it?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Why is it important?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How would we measure it?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do we want to learn? </a:t>
                      </a:r>
                      <a:endParaRPr sz="900" b="1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48960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All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2" tooltip="https://givewith.atlassian.net/browse/PLT-8452"/>
                        </a:rPr>
                        <a:t>Security Audit / SOC2 Compliance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Build customer trust &amp; increase data security 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Fewer sales cycle objections for security, reliability, and privacy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Current state of security posture &amp; risk assessment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Close gap to reach compliance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9873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SIOs and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 Admins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3" tooltip="https://givewith.atlassian.net/browse/PLT-8593"/>
                        </a:rPr>
                        <a:t>Access Program Results Preview Page from search results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Enhance transparency in the SIO Onboarding Process, ensure data accuracy with SIO Partner validation, and boost operational efficiency by externalizing the program preview page.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Partner Validation: Track the percentage of pages approved by partners without further revisions.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Are our program pages accurate and verified by the SIO Partner?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9977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3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Increase transactions and content delivery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Suppliers and SellWith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4" tooltip="https://givewith.atlassian.net/browse/PLT-8573"/>
                        </a:rPr>
                        <a:t>Customizable Proposal Branding</a:t>
                      </a:r>
                      <a:r>
                        <a:rPr lang="en" sz="900" u="none" strike="noStrike" cap="none"/>
                        <a:t> 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 brand image &amp; recognition in the contribution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Increased usage of the PDF proposal customization feature.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Do customers use it?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Does it help close customer opportunities/deals?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  <a:tr h="10158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4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Use Customer Feedback to drive product roadmap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SellWIth and BuyWith</a:t>
                      </a:r>
                      <a:br>
                        <a:rPr lang="en" sz="900" u="none" strike="noStrike" cap="none"/>
                      </a:br>
                      <a:br>
                        <a:rPr lang="en" sz="900" u="none" strike="noStrike" cap="none"/>
                      </a:br>
                      <a:r>
                        <a:rPr lang="en" sz="900" u="none" strike="noStrike" cap="none"/>
                        <a:t>Product Managers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5" tooltip="https://givewith.atlassian.net/browse/PLT-8504"/>
                        </a:rPr>
                        <a:t>Pendo (Feedback Collection)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Capture feedback from our customer is crucial to improving the product. 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# of customer feedback submissions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Get closer to the customer. 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What are features/pains the customer encounters</a:t>
                      </a:r>
                      <a:endParaRPr sz="900" u="none" strike="noStrike" cap="none"/>
                    </a:p>
                  </a:txBody>
                  <a:tcPr marL="68575" marR="68575" marT="68575" marB="68575">
                    <a:lnL w="19050" algn="ctr">
                      <a:solidFill>
                        <a:srgbClr val="F4F2ED"/>
                      </a:solidFill>
                    </a:lnL>
                    <a:lnR w="19050" algn="ctr">
                      <a:solidFill>
                        <a:srgbClr val="F4F2ED"/>
                      </a:solidFill>
                    </a:lnR>
                    <a:lnT w="19050" algn="ctr">
                      <a:solidFill>
                        <a:srgbClr val="F4F2ED"/>
                      </a:solidFill>
                    </a:lnT>
                    <a:lnB w="19050" algn="ctr">
                      <a:solidFill>
                        <a:srgbClr val="F4F2E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304898" name="Google Shape;431;p59"/>
          <p:cNvSpPr txBox="1"/>
          <p:nvPr>
            <p:ph type="body" idx="1"/>
          </p:nvPr>
        </p:nvSpPr>
        <p:spPr bwMode="auto">
          <a:xfrm>
            <a:off x="138375" y="65941"/>
            <a:ext cx="6932999" cy="273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4" tIns="34274" rIns="68574" bIns="34274" anchor="ctr" anchorCtr="0">
            <a:noAutofit/>
          </a:bodyPr>
          <a:lstStyle/>
          <a:p>
            <a:pPr marL="0" lvl="0" indent="0" algn="l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SzPts val="900"/>
              <a:buNone/>
              <a:defRPr/>
            </a:pPr>
            <a:r>
              <a:rPr lang="en" sz="1400"/>
              <a:t>Current Sprint (23.16) Goals </a:t>
            </a:r>
            <a:endParaRPr sz="1400"/>
          </a:p>
        </p:txBody>
      </p:sp>
      <p:graphicFrame>
        <p:nvGraphicFramePr>
          <p:cNvPr id="2000244883" name="Google Shape;432;p59"/>
          <p:cNvGraphicFramePr>
            <a:graphicFrameLocks xmlns:a="http://schemas.openxmlformats.org/drawingml/2006/main"/>
          </p:cNvGraphicFramePr>
          <p:nvPr/>
        </p:nvGraphicFramePr>
        <p:xfrm>
          <a:off x="272305" y="603262"/>
          <a:ext cx="2999999" cy="2999999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{A36105F6-0E29-4033-AB89-67721543B515}</a:tableStyleId>
                <a:noFill/>
              </a:tblPr>
              <a:tblGrid>
                <a:gridCol w="182148"/>
                <a:gridCol w="794099"/>
                <a:gridCol w="695899"/>
                <a:gridCol w="1165348"/>
                <a:gridCol w="1865549"/>
                <a:gridCol w="1668974"/>
                <a:gridCol w="2026849"/>
              </a:tblGrid>
              <a:tr h="2481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#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Objective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Who?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is it?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Why is it important?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How would we measure it?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/>
                        <a:t>What do we want to learn? </a:t>
                      </a:r>
                      <a:endParaRPr sz="900" b="1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48960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All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2" tooltip="https://givewith.atlassian.net/browse/PLT-8452"/>
                        </a:rPr>
                        <a:t>Security Audit / SOC2 Compliance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Build customer trust &amp; increase data security 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Fewer sales cycle objections for security, reliability, and privacy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Current state of security posture &amp; risk assessment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Close gap to reach compliance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9873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Acquire 6 Customers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SIOs and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SIO Admins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3" tooltip="https://givewith.atlassian.net/browse/PLT-8593"/>
                        </a:rPr>
                        <a:t>Access Program Results Preview Page from search results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Enhance transparency in the SIO Onboarding Process, ensure data accuracy with SIO Partner validation, and boost operational efficiency by externalizing the program preview page.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Partner Validation: Track the percentage of pages approved by partners without further revisions.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Are our program pages accurate and verified by the SIO Partner?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997725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3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Increase transactions and content delivery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Suppliers and SellWith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4" tooltip="https://givewith.atlassian.net/browse/PLT-8573"/>
                        </a:rPr>
                        <a:t>Customizable Proposal Branding</a:t>
                      </a:r>
                      <a:r>
                        <a:rPr lang="en" sz="900" u="none" strike="noStrike" cap="none"/>
                        <a:t> 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 brand image &amp; recognition in the contribution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Increased usage of the PDF proposal customization feature.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Do customers use it?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Does it help close customer opportunities/deals?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  <a:tr h="1015850"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4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b="1" u="none" strike="noStrike" cap="none">
                          <a:solidFill>
                            <a:srgbClr val="1D1C1D"/>
                          </a:solidFill>
                        </a:rPr>
                        <a:t>Use Customer Feedback to drive product roadmap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SellWIth and BuyWith</a:t>
                      </a:r>
                      <a:br>
                        <a:rPr lang="en" sz="900" u="none" strike="noStrike" cap="none"/>
                      </a:br>
                      <a:br>
                        <a:rPr lang="en" sz="900" u="none" strike="noStrike" cap="none"/>
                      </a:br>
                      <a:r>
                        <a:rPr lang="en" sz="900" u="none" strike="noStrike" cap="none"/>
                        <a:t>Product Managers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sng" strike="noStrike" cap="none">
                          <a:solidFill>
                            <a:schemeClr val="hlink"/>
                          </a:solidFill>
                          <a:hlinkClick r:id="rId5" tooltip="https://givewith.atlassian.net/browse/PLT-8504"/>
                        </a:rPr>
                        <a:t>Pendo (Feedback Collection)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Capture feedback from our customer is crucial to improving the product. 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# of customer feedback submissions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  <a:tc>
                  <a:txBody>
                    <a:bodyPr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1. Get closer to the customer. </a:t>
                      </a:r>
                      <a:endParaRPr sz="900" u="none" strike="noStrike" cap="none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  <a:defRPr/>
                      </a:pPr>
                      <a:r>
                        <a:rPr lang="en" sz="900" u="none" strike="noStrike" cap="none"/>
                        <a:t>2. What are features/pains the customer encounters</a:t>
                      </a:r>
                      <a:endParaRPr sz="900" u="none" strike="noStrike" cap="none"/>
                    </a:p>
                  </a:txBody>
                  <a:tcPr marL="68574" marR="68574" marT="68574" marB="68574">
                    <a:lnL w="19049" algn="ctr">
                      <a:solidFill>
                        <a:srgbClr val="F4F2ED"/>
                      </a:solidFill>
                    </a:lnL>
                    <a:lnR w="19049" algn="ctr">
                      <a:solidFill>
                        <a:srgbClr val="F4F2ED"/>
                      </a:solidFill>
                    </a:lnR>
                    <a:lnT w="19049" algn="ctr">
                      <a:solidFill>
                        <a:srgbClr val="F4F2ED"/>
                      </a:solidFill>
                    </a:lnT>
                    <a:lnB w="19049" algn="ctr">
                      <a:solidFill>
                        <a:srgbClr val="F4F2ED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ScaleWith 1">
      <a:dk1>
        <a:srgbClr val="021965"/>
      </a:dk1>
      <a:lt1>
        <a:srgbClr val="FFFFFF"/>
      </a:lt1>
      <a:dk2>
        <a:srgbClr val="023056"/>
      </a:dk2>
      <a:lt2>
        <a:srgbClr val="E6E5DE"/>
      </a:lt2>
      <a:accent1>
        <a:srgbClr val="005EE9"/>
      </a:accent1>
      <a:accent2>
        <a:srgbClr val="7CD3E9"/>
      </a:accent2>
      <a:accent3>
        <a:srgbClr val="009F74"/>
      </a:accent3>
      <a:accent4>
        <a:srgbClr val="F07F09"/>
      </a:accent4>
      <a:accent5>
        <a:srgbClr val="5B6DD3"/>
      </a:accent5>
      <a:accent6>
        <a:srgbClr val="24B2DF"/>
      </a:accent6>
      <a:hlink>
        <a:srgbClr val="005EE9"/>
      </a:hlink>
      <a:folHlink>
        <a:srgbClr val="3273DE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ONLYOFFICE/7.3.3.50</Application>
  <DocSecurity>0</DocSecurity>
  <PresentationFormat>On-screen Show (4:3)</PresentationFormat>
  <Paragraphs>0</Paragraphs>
  <Slides>3</Slides>
  <Notes>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Theme 1</vt:lpstr>
      <vt:lpstr>Slide 1</vt:lpstr>
      <vt:lpstr>Slide 2</vt:lpstr>
      <vt:lpstr>Slide 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/>
  <cp:revision>1</cp:revision>
  <dcterms:modified xsi:type="dcterms:W3CDTF">2023-10-26T16:45:49Z</dcterms:modified>
  <cp:category/>
  <cp:contentStatus/>
  <cp:version/>
</cp:coreProperties>
</file>