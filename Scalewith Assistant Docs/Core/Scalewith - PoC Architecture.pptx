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12192000" cy="6858000"/>
  <p:defaultTextStyle>
    <a:defPPr>
      <a:defRPr lang="pt-B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8" d="100"/>
          <a:sy n="128" d="100"/>
        </p:scale>
        <p:origin x="752" y="17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Slide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56C5D5-759D-254D-B87C-459FFD3008A6}" type="slidenum">
              <a:rPr lang="pt-BR"/>
              <a:t/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ítulo 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56C5D5-759D-254D-B87C-459FFD3008A6}" type="slidenum">
              <a:rPr lang="pt-BR"/>
              <a:t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Cabeçalho da Se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56C5D5-759D-254D-B87C-459FFD3008A6}" type="slidenum">
              <a:rPr lang="pt-BR"/>
              <a:t/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Duas Partes d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56C5D5-759D-254D-B87C-459FFD3008A6}" type="slidenum">
              <a:rPr lang="pt-BR"/>
              <a:t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56C5D5-759D-254D-B87C-459FFD3008A6}" type="slidenum">
              <a:rPr lang="pt-BR"/>
              <a:t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Soment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56C5D5-759D-254D-B87C-459FFD3008A6}" type="slidenum">
              <a:rPr lang="pt-BR"/>
              <a:t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56C5D5-759D-254D-B87C-459FFD3008A6}" type="slidenum">
              <a:rPr lang="pt-BR"/>
              <a:t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56C5D5-759D-254D-B87C-459FFD3008A6}" type="slidenum">
              <a:rPr lang="pt-BR"/>
              <a:t/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56C5D5-759D-254D-B87C-459FFD3008A6}" type="slidenum">
              <a:rPr lang="pt-BR"/>
              <a:t/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56C5D5-759D-254D-B87C-459FFD3008A6}" type="slidenum">
              <a:rPr lang="pt-BR"/>
              <a:t/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Texto e Títul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56C5D5-759D-254D-B87C-459FFD3008A6}" type="slidenum">
              <a:rPr lang="pt-BR"/>
              <a:t/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boxes (1 large, 4 small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 bwMode="auto">
          <a:xfrm>
            <a:off x="6118788" y="2243580"/>
            <a:ext cx="3048000" cy="46144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8"/>
          </p:nvPr>
        </p:nvSpPr>
        <p:spPr bwMode="auto">
          <a:xfrm>
            <a:off x="9155395" y="2243580"/>
            <a:ext cx="3048000" cy="46144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" name="Content Placeholder 13"/>
          <p:cNvSpPr>
            <a:spLocks noGrp="1"/>
          </p:cNvSpPr>
          <p:nvPr>
            <p:ph sz="quarter" idx="19"/>
          </p:nvPr>
        </p:nvSpPr>
        <p:spPr bwMode="auto">
          <a:xfrm>
            <a:off x="3070791" y="2243579"/>
            <a:ext cx="3048000" cy="46144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" name="Content Placeholder 6"/>
          <p:cNvSpPr>
            <a:spLocks noGrp="1"/>
          </p:cNvSpPr>
          <p:nvPr>
            <p:ph sz="quarter" idx="20"/>
          </p:nvPr>
        </p:nvSpPr>
        <p:spPr bwMode="auto">
          <a:xfrm>
            <a:off x="0" y="2243579"/>
            <a:ext cx="3048000" cy="4614420"/>
          </a:xfrm>
          <a:prstGeom prst="rect">
            <a:avLst/>
          </a:prstGeom>
          <a:solidFill>
            <a:schemeClr val="accent3"/>
          </a:solidFill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-75416" y="71393"/>
            <a:ext cx="12192000" cy="2172187"/>
          </a:xfrm>
          <a:prstGeom prst="rect">
            <a:avLst/>
          </a:prstGeom>
          <a:solidFill>
            <a:schemeClr val="tx2"/>
          </a:solidFill>
        </p:spPr>
        <p:txBody>
          <a:bodyPr lIns="182880" tIns="137160" rIns="228600" bIns="228600"/>
          <a:lstStyle>
            <a:lvl1pPr>
              <a:lnSpc>
                <a:spcPts val="7200"/>
              </a:lnSpc>
              <a:defRPr sz="6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9395FB3-9C97-154F-86B2-7E381B951268}" type="slidenum">
              <a:rPr lang="en-US"/>
              <a:t/>
            </a:fld>
            <a:endParaRPr lang="en-US"/>
          </a:p>
        </p:txBody>
      </p:sp>
      <p:grpSp>
        <p:nvGrpSpPr>
          <p:cNvPr id="11" name="Group 10"/>
          <p:cNvGrpSpPr/>
          <p:nvPr userDrawn="1"/>
        </p:nvGrpSpPr>
        <p:grpSpPr bwMode="auto">
          <a:xfrm>
            <a:off x="6118788" y="3707364"/>
            <a:ext cx="3013816" cy="2287037"/>
            <a:chOff x="4572000" y="242596"/>
            <a:chExt cx="2260362" cy="4253204"/>
          </a:xfrm>
        </p:grpSpPr>
        <p:cxnSp>
          <p:nvCxnSpPr>
            <p:cNvPr id="14" name="Straight Connector 13"/>
            <p:cNvCxnSpPr>
              <a:cxnSpLocks/>
            </p:cNvCxnSpPr>
            <p:nvPr/>
          </p:nvCxnSpPr>
          <p:spPr bwMode="auto">
            <a:xfrm>
              <a:off x="4572000" y="242596"/>
              <a:ext cx="0" cy="4253204"/>
            </a:xfrm>
            <a:prstGeom prst="line">
              <a:avLst/>
            </a:prstGeom>
            <a:ln w="6350">
              <a:solidFill>
                <a:schemeClr val="bg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cxnSpLocks/>
            </p:cNvCxnSpPr>
            <p:nvPr/>
          </p:nvCxnSpPr>
          <p:spPr bwMode="auto">
            <a:xfrm>
              <a:off x="6832362" y="242596"/>
              <a:ext cx="0" cy="4253204"/>
            </a:xfrm>
            <a:prstGeom prst="line">
              <a:avLst/>
            </a:prstGeom>
            <a:ln w="6350">
              <a:solidFill>
                <a:schemeClr val="bg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/>
          <p:cNvCxnSpPr>
            <a:cxnSpLocks/>
          </p:cNvCxnSpPr>
          <p:nvPr userDrawn="1"/>
        </p:nvCxnSpPr>
        <p:spPr bwMode="auto">
          <a:xfrm>
            <a:off x="3070788" y="3707364"/>
            <a:ext cx="0" cy="2287037"/>
          </a:xfrm>
          <a:prstGeom prst="line">
            <a:avLst/>
          </a:prstGeom>
          <a:ln w="635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t-BR"/>
              <a:t>Clique para editar os estilos de texto Mestres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356C5D5-759D-254D-B87C-459FFD3008A6}" type="slidenum">
              <a:rPr lang="pt-BR"/>
              <a:t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1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Imagem 13" descr="Uma imagem com texto, homem, pessoa&#10;&#10;Descrição gerada automaticamente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20653" y="827314"/>
            <a:ext cx="7379367" cy="6030686"/>
          </a:xfrm>
          <a:prstGeom prst="rect">
            <a:avLst/>
          </a:prstGeom>
        </p:spPr>
      </p:pic>
      <p:sp>
        <p:nvSpPr>
          <p:cNvPr id="13" name="TextBox 18"/>
          <p:cNvSpPr txBox="1"/>
          <p:nvPr/>
        </p:nvSpPr>
        <p:spPr bwMode="auto">
          <a:xfrm>
            <a:off x="409079" y="328000"/>
            <a:ext cx="582531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14621">
              <a:defRPr/>
            </a:pPr>
            <a:r>
              <a:rPr lang="en-US" sz="1200">
                <a:solidFill>
                  <a:srgbClr val="000000"/>
                </a:solidFill>
                <a:latin typeface="IBM Plex Sans Light"/>
              </a:rPr>
              <a:t>[Ecosystem Engineering | </a:t>
            </a:r>
            <a:r>
              <a:rPr lang="en-US" sz="1200">
                <a:solidFill>
                  <a:srgbClr val="000000"/>
                </a:solidFill>
                <a:latin typeface="IBM Plex Sans Medium"/>
              </a:rPr>
              <a:t>Build Lab Americas</a:t>
            </a:r>
            <a:r>
              <a:rPr lang="en-US" sz="1200">
                <a:solidFill>
                  <a:srgbClr val="000000"/>
                </a:solidFill>
                <a:latin typeface="IBM Plex Sans Light"/>
              </a:rPr>
              <a:t>]</a:t>
            </a:r>
            <a:endParaRPr/>
          </a:p>
        </p:txBody>
      </p:sp>
      <p:sp>
        <p:nvSpPr>
          <p:cNvPr id="15" name="TextBox 18"/>
          <p:cNvSpPr txBox="1"/>
          <p:nvPr/>
        </p:nvSpPr>
        <p:spPr bwMode="auto">
          <a:xfrm>
            <a:off x="409078" y="1317751"/>
            <a:ext cx="4293909" cy="1310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14621">
              <a:defRPr/>
            </a:pPr>
            <a:r>
              <a:rPr lang="en-US" sz="4000">
                <a:solidFill>
                  <a:srgbClr val="000000"/>
                </a:solidFill>
                <a:latin typeface="IBM Plex Sans Light"/>
              </a:rPr>
              <a:t>ScaleWith</a:t>
            </a:r>
            <a:r>
              <a:rPr lang="en-US" sz="4000">
                <a:solidFill>
                  <a:srgbClr val="000000"/>
                </a:solidFill>
                <a:latin typeface="IBM Plex Sans Light"/>
              </a:rPr>
              <a:t> PoC</a:t>
            </a:r>
            <a:br>
              <a:rPr lang="en-US" sz="4000">
                <a:latin typeface="IBM Plex Sans Light"/>
              </a:rPr>
            </a:br>
            <a:r>
              <a:rPr lang="en-US" sz="4000">
                <a:latin typeface="IBM Plex Sans Light"/>
              </a:rPr>
              <a:t>Architecture</a:t>
            </a:r>
            <a:endParaRPr lang="en-US" sz="4000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17" name="TextBox 18"/>
          <p:cNvSpPr txBox="1"/>
          <p:nvPr/>
        </p:nvSpPr>
        <p:spPr bwMode="auto">
          <a:xfrm>
            <a:off x="409079" y="3429000"/>
            <a:ext cx="411626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914621">
              <a:defRPr/>
            </a:pPr>
            <a:r>
              <a:rPr lang="en-US" sz="2400">
                <a:solidFill>
                  <a:srgbClr val="000000"/>
                </a:solidFill>
                <a:latin typeface="IBM Plex Sans SemiBold"/>
                <a:cs typeface="Arial"/>
              </a:rPr>
              <a:t>ScaleWith</a:t>
            </a:r>
            <a:endParaRPr/>
          </a:p>
          <a:p>
            <a:pPr defTabSz="914621"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IBM Plex Sans Light"/>
              </a:rPr>
              <a:t>S</a:t>
            </a:r>
            <a:r>
              <a:rPr lang="en-US" sz="2400" b="0" i="0" u="none" strike="noStrike">
                <a:solidFill>
                  <a:srgbClr val="1D1D1D"/>
                </a:solidFill>
                <a:latin typeface="Calibri"/>
              </a:rPr>
              <a:t>ocial </a:t>
            </a:r>
            <a:r>
              <a:rPr lang="en-US" sz="2400">
                <a:solidFill>
                  <a:srgbClr val="1D1D1D"/>
                </a:solidFill>
                <a:latin typeface="Calibri"/>
              </a:rPr>
              <a:t>I</a:t>
            </a:r>
            <a:r>
              <a:rPr lang="en-US" sz="2400" b="0" i="0" u="none" strike="noStrike">
                <a:solidFill>
                  <a:srgbClr val="1D1D1D"/>
                </a:solidFill>
                <a:latin typeface="Calibri"/>
              </a:rPr>
              <a:t>mpact AI</a:t>
            </a:r>
            <a:endParaRPr lang="en-US" sz="2400">
              <a:solidFill>
                <a:srgbClr val="000000"/>
              </a:solidFill>
              <a:latin typeface="IBM Plex Sans Light"/>
            </a:endParaRPr>
          </a:p>
        </p:txBody>
      </p:sp>
      <p:sp>
        <p:nvSpPr>
          <p:cNvPr id="11" name="CaixaDeTexto 10"/>
          <p:cNvSpPr txBox="1"/>
          <p:nvPr/>
        </p:nvSpPr>
        <p:spPr bwMode="auto">
          <a:xfrm>
            <a:off x="4788568" y="34891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pt-BR"/>
          </a:p>
        </p:txBody>
      </p:sp>
      <p:pic>
        <p:nvPicPr>
          <p:cNvPr id="3" name="Picture 2" descr="IBM Logo – PNG e Vetor – Download de Logo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11437" y="5755977"/>
            <a:ext cx="1239429" cy="499314"/>
          </a:xfrm>
          <a:prstGeom prst="rect">
            <a:avLst/>
          </a:prstGeom>
          <a:noFill/>
        </p:spPr>
      </p:pic>
      <p:grpSp>
        <p:nvGrpSpPr>
          <p:cNvPr id="4" name="Agrupar 3"/>
          <p:cNvGrpSpPr/>
          <p:nvPr/>
        </p:nvGrpSpPr>
        <p:grpSpPr bwMode="auto">
          <a:xfrm>
            <a:off x="5826643" y="6490582"/>
            <a:ext cx="538715" cy="109963"/>
            <a:chOff x="5826642" y="1888957"/>
            <a:chExt cx="538715" cy="109963"/>
          </a:xfrm>
        </p:grpSpPr>
        <p:sp>
          <p:nvSpPr>
            <p:cNvPr id="5" name="Retângulo 4"/>
            <p:cNvSpPr/>
            <p:nvPr/>
          </p:nvSpPr>
          <p:spPr bwMode="auto">
            <a:xfrm>
              <a:off x="5826642" y="1888957"/>
              <a:ext cx="109963" cy="109963"/>
            </a:xfrm>
            <a:prstGeom prst="rect">
              <a:avLst/>
            </a:prstGeom>
            <a:solidFill>
              <a:srgbClr val="83A9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6" name="Retângulo 5"/>
            <p:cNvSpPr/>
            <p:nvPr/>
          </p:nvSpPr>
          <p:spPr bwMode="auto">
            <a:xfrm>
              <a:off x="6041018" y="1888957"/>
              <a:ext cx="109963" cy="109963"/>
            </a:xfrm>
            <a:prstGeom prst="rect">
              <a:avLst/>
            </a:prstGeom>
            <a:solidFill>
              <a:srgbClr val="B8DC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7" name="Retângulo 6"/>
            <p:cNvSpPr/>
            <p:nvPr/>
          </p:nvSpPr>
          <p:spPr bwMode="auto">
            <a:xfrm>
              <a:off x="6255394" y="1888957"/>
              <a:ext cx="109963" cy="109963"/>
            </a:xfrm>
            <a:prstGeom prst="rect">
              <a:avLst/>
            </a:prstGeom>
            <a:solidFill>
              <a:srgbClr val="E0A8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pt-BR"/>
            </a:p>
          </p:txBody>
        </p:sp>
      </p:grpSp>
      <p:sp>
        <p:nvSpPr>
          <p:cNvPr id="18" name="Espaço Reservado para Número de Slide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356C5D5-759D-254D-B87C-459FFD3008A6}" type="slidenum">
              <a:rPr lang="pt-BR"/>
              <a:t/>
            </a:fld>
            <a:endParaRPr lang="pt-BR"/>
          </a:p>
        </p:txBody>
      </p:sp>
      <p:pic>
        <p:nvPicPr>
          <p:cNvPr id="2" name="Picture 2" descr="ScaleWith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500285" y="3032642"/>
            <a:ext cx="2889685" cy="80269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59692751" name="Group 36"/>
          <p:cNvGrpSpPr/>
          <p:nvPr/>
        </p:nvGrpSpPr>
        <p:grpSpPr bwMode="auto">
          <a:xfrm>
            <a:off x="2377694" y="4359867"/>
            <a:ext cx="795654" cy="1239768"/>
            <a:chOff x="2651002" y="917447"/>
            <a:chExt cx="685800" cy="1044267"/>
          </a:xfrm>
        </p:grpSpPr>
        <p:pic>
          <p:nvPicPr>
            <p:cNvPr id="423555620" name="Picture 2"/>
            <p:cNvPicPr>
              <a:picLocks noChangeAspect="1" noChangeArrowheads="1"/>
            </p:cNvPicPr>
            <p:nvPr/>
          </p:nvPicPr>
          <p:blipFill>
            <a:blip r:embed="rId2"/>
            <a:stretch/>
          </p:blipFill>
          <p:spPr bwMode="auto">
            <a:xfrm>
              <a:off x="2651002" y="917447"/>
              <a:ext cx="685800" cy="685800"/>
            </a:xfrm>
            <a:prstGeom prst="rect">
              <a:avLst/>
            </a:prstGeom>
            <a:noFill/>
          </p:spPr>
        </p:pic>
        <p:sp>
          <p:nvSpPr>
            <p:cNvPr id="42233598" name="TextBox 44"/>
            <p:cNvSpPr txBox="1"/>
            <p:nvPr/>
          </p:nvSpPr>
          <p:spPr bwMode="auto">
            <a:xfrm>
              <a:off x="2705323" y="1624699"/>
              <a:ext cx="617887" cy="337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US" sz="1000">
                  <a:latin typeface="IBM Plex Sans"/>
                </a:rPr>
                <a:t>Watson </a:t>
              </a:r>
              <a:endParaRPr/>
            </a:p>
            <a:p>
              <a:pPr algn="ctr">
                <a:defRPr/>
              </a:pPr>
              <a:r>
                <a:rPr lang="en-US" sz="1000">
                  <a:latin typeface="IBM Plex Sans"/>
                </a:rPr>
                <a:t>Assistant</a:t>
              </a:r>
              <a:endParaRPr/>
            </a:p>
          </p:txBody>
        </p:sp>
      </p:grpSp>
      <p:cxnSp>
        <p:nvCxnSpPr>
          <p:cNvPr id="71003464" name="Straight Arrow Connector 76"/>
          <p:cNvCxnSpPr>
            <a:cxnSpLocks/>
          </p:cNvCxnSpPr>
          <p:nvPr/>
        </p:nvCxnSpPr>
        <p:spPr bwMode="auto">
          <a:xfrm flipH="1" flipV="1">
            <a:off x="2644855" y="3610010"/>
            <a:ext cx="1459" cy="74985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710322" name="Rectangle 97"/>
          <p:cNvSpPr/>
          <p:nvPr/>
        </p:nvSpPr>
        <p:spPr bwMode="auto">
          <a:xfrm>
            <a:off x="1125019" y="1298923"/>
            <a:ext cx="917418" cy="455946"/>
          </a:xfrm>
          <a:prstGeom prst="rect">
            <a:avLst/>
          </a:prstGeom>
          <a:solidFill>
            <a:srgbClr val="24A148"/>
          </a:solidFill>
          <a:ln w="19050">
            <a:solidFill>
              <a:srgbClr val="24A148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</a:rPr>
              <a:t>Model A</a:t>
            </a:r>
            <a:endParaRPr/>
          </a:p>
        </p:txBody>
      </p:sp>
      <p:sp>
        <p:nvSpPr>
          <p:cNvPr id="65176260" name="Rectangle 102"/>
          <p:cNvSpPr/>
          <p:nvPr/>
        </p:nvSpPr>
        <p:spPr bwMode="auto">
          <a:xfrm>
            <a:off x="2336947" y="1298923"/>
            <a:ext cx="917418" cy="455946"/>
          </a:xfrm>
          <a:prstGeom prst="rect">
            <a:avLst/>
          </a:prstGeom>
          <a:solidFill>
            <a:srgbClr val="24A148"/>
          </a:solidFill>
          <a:ln w="19050">
            <a:solidFill>
              <a:srgbClr val="24A148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</a:rPr>
              <a:t>Model B</a:t>
            </a:r>
            <a:endParaRPr/>
          </a:p>
        </p:txBody>
      </p:sp>
      <p:sp>
        <p:nvSpPr>
          <p:cNvPr id="1915564466" name="Rectangle 104"/>
          <p:cNvSpPr/>
          <p:nvPr/>
        </p:nvSpPr>
        <p:spPr bwMode="auto">
          <a:xfrm>
            <a:off x="3606561" y="1296578"/>
            <a:ext cx="917418" cy="455946"/>
          </a:xfrm>
          <a:prstGeom prst="rect">
            <a:avLst/>
          </a:prstGeom>
          <a:solidFill>
            <a:srgbClr val="24A148"/>
          </a:solidFill>
          <a:ln w="19050">
            <a:solidFill>
              <a:srgbClr val="24A148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</a:rPr>
              <a:t>Model C</a:t>
            </a:r>
            <a:endParaRPr/>
          </a:p>
        </p:txBody>
      </p:sp>
      <p:pic>
        <p:nvPicPr>
          <p:cNvPr id="539550255" name="Picture 1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614930" y="4479462"/>
            <a:ext cx="480444" cy="592929"/>
          </a:xfrm>
          <a:prstGeom prst="rect">
            <a:avLst/>
          </a:prstGeom>
          <a:noFill/>
        </p:spPr>
      </p:pic>
      <p:cxnSp>
        <p:nvCxnSpPr>
          <p:cNvPr id="811950046" name="Straight Arrow Connector 120"/>
          <p:cNvCxnSpPr>
            <a:cxnSpLocks/>
          </p:cNvCxnSpPr>
          <p:nvPr/>
        </p:nvCxnSpPr>
        <p:spPr bwMode="auto">
          <a:xfrm flipV="1">
            <a:off x="1090314" y="4654978"/>
            <a:ext cx="1282318" cy="8964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3381636" name="Group 127"/>
          <p:cNvGrpSpPr/>
          <p:nvPr/>
        </p:nvGrpSpPr>
        <p:grpSpPr bwMode="auto">
          <a:xfrm>
            <a:off x="6273763" y="2682559"/>
            <a:ext cx="795654" cy="1218978"/>
            <a:chOff x="7650936" y="2941759"/>
            <a:chExt cx="685800" cy="1026756"/>
          </a:xfrm>
        </p:grpSpPr>
        <p:pic>
          <p:nvPicPr>
            <p:cNvPr id="241232953" name="Picture 4"/>
            <p:cNvPicPr>
              <a:picLocks noChangeAspect="1" noChangeArrowheads="1"/>
            </p:cNvPicPr>
            <p:nvPr/>
          </p:nvPicPr>
          <p:blipFill>
            <a:blip r:embed="rId4"/>
            <a:stretch/>
          </p:blipFill>
          <p:spPr bwMode="auto">
            <a:xfrm>
              <a:off x="7650936" y="2941759"/>
              <a:ext cx="685800" cy="685800"/>
            </a:xfrm>
            <a:prstGeom prst="rect">
              <a:avLst/>
            </a:prstGeom>
            <a:noFill/>
          </p:spPr>
        </p:pic>
        <p:sp>
          <p:nvSpPr>
            <p:cNvPr id="1072419226" name="TextBox 129"/>
            <p:cNvSpPr txBox="1"/>
            <p:nvPr/>
          </p:nvSpPr>
          <p:spPr bwMode="auto">
            <a:xfrm>
              <a:off x="7687618" y="3631500"/>
              <a:ext cx="642757" cy="337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US" sz="1000">
                  <a:latin typeface="IBM Plex Sans"/>
                </a:rPr>
                <a:t>Watson</a:t>
              </a:r>
              <a:endParaRPr/>
            </a:p>
            <a:p>
              <a:pPr algn="ctr">
                <a:defRPr/>
              </a:pPr>
              <a:r>
                <a:rPr lang="en-US" sz="1000">
                  <a:latin typeface="IBM Plex Sans"/>
                </a:rPr>
                <a:t>Discovery</a:t>
              </a:r>
              <a:endParaRPr/>
            </a:p>
          </p:txBody>
        </p:sp>
      </p:grpSp>
      <p:cxnSp>
        <p:nvCxnSpPr>
          <p:cNvPr id="164048151" name="Straight Arrow Connector 131"/>
          <p:cNvCxnSpPr>
            <a:cxnSpLocks/>
          </p:cNvCxnSpPr>
          <p:nvPr/>
        </p:nvCxnSpPr>
        <p:spPr bwMode="auto">
          <a:xfrm flipH="0" flipV="1">
            <a:off x="5549531" y="1154905"/>
            <a:ext cx="897080" cy="1797843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306163" name="Elbow Connector 138"/>
          <p:cNvCxnSpPr>
            <a:cxnSpLocks/>
          </p:cNvCxnSpPr>
          <p:nvPr/>
        </p:nvCxnSpPr>
        <p:spPr bwMode="auto">
          <a:xfrm flipV="1">
            <a:off x="3083504" y="3008399"/>
            <a:ext cx="2083520" cy="130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8627509" name="TextBox 155"/>
          <p:cNvSpPr txBox="1"/>
          <p:nvPr/>
        </p:nvSpPr>
        <p:spPr bwMode="auto">
          <a:xfrm>
            <a:off x="2251136" y="3363789"/>
            <a:ext cx="1045851" cy="246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latin typeface="IBM Plex Sans"/>
              </a:rPr>
              <a:t>watsonx.ai</a:t>
            </a:r>
            <a:endParaRPr lang="en-US" sz="1000">
              <a:latin typeface="IBM Plex Sans"/>
            </a:endParaRPr>
          </a:p>
        </p:txBody>
      </p:sp>
      <p:cxnSp>
        <p:nvCxnSpPr>
          <p:cNvPr id="1921308981" name="Elbow Connector 170"/>
          <p:cNvCxnSpPr>
            <a:cxnSpLocks/>
            <a:stCxn id="277710322" idx="2"/>
            <a:endCxn id="1667180200" idx="0"/>
          </p:cNvCxnSpPr>
          <p:nvPr/>
        </p:nvCxnSpPr>
        <p:spPr bwMode="auto">
          <a:xfrm rot="16199969" flipH="1">
            <a:off x="1664262" y="1674336"/>
            <a:ext cx="1049916" cy="121098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headEnd type="stealt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1260220" name="Elbow Connector 171"/>
          <p:cNvCxnSpPr>
            <a:cxnSpLocks/>
            <a:stCxn id="1915564466" idx="2"/>
            <a:endCxn id="1667180200" idx="0"/>
          </p:cNvCxnSpPr>
          <p:nvPr/>
        </p:nvCxnSpPr>
        <p:spPr bwMode="auto">
          <a:xfrm rot="5399978">
            <a:off x="2903860" y="1643377"/>
            <a:ext cx="1052262" cy="127055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headEnd type="arrow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2040891" name="Straight Arrow Connector 175"/>
          <p:cNvCxnSpPr>
            <a:cxnSpLocks/>
            <a:stCxn id="65176260" idx="2"/>
            <a:endCxn id="1667180200" idx="0"/>
          </p:cNvCxnSpPr>
          <p:nvPr/>
        </p:nvCxnSpPr>
        <p:spPr bwMode="auto">
          <a:xfrm flipH="1">
            <a:off x="2794712" y="1754870"/>
            <a:ext cx="945" cy="104991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8665173" name="Picture 4" descr="Services Icon Png #65899 - Free Icons Library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5167026" y="2860824"/>
            <a:ext cx="457200" cy="457200"/>
          </a:xfrm>
          <a:prstGeom prst="rect">
            <a:avLst/>
          </a:prstGeom>
          <a:noFill/>
        </p:spPr>
      </p:pic>
      <p:sp>
        <p:nvSpPr>
          <p:cNvPr id="109778424" name="TextBox 6"/>
          <p:cNvSpPr txBox="1"/>
          <p:nvPr/>
        </p:nvSpPr>
        <p:spPr bwMode="auto">
          <a:xfrm>
            <a:off x="4897363" y="3318763"/>
            <a:ext cx="1055931" cy="2441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latin typeface="IBM Plex Sans"/>
              </a:rPr>
              <a:t>Stage 1 code</a:t>
            </a:r>
            <a:endParaRPr/>
          </a:p>
        </p:txBody>
      </p:sp>
      <p:pic>
        <p:nvPicPr>
          <p:cNvPr id="1667180200" name="Picture 7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2505920" y="2804787"/>
            <a:ext cx="577584" cy="571893"/>
          </a:xfrm>
          <a:prstGeom prst="rect">
            <a:avLst/>
          </a:prstGeom>
        </p:spPr>
      </p:pic>
      <p:sp>
        <p:nvSpPr>
          <p:cNvPr id="2013847058" name="Title 1"/>
          <p:cNvSpPr txBox="1"/>
          <p:nvPr/>
        </p:nvSpPr>
        <p:spPr bwMode="auto">
          <a:xfrm flipH="0" flipV="0">
            <a:off x="125055" y="175134"/>
            <a:ext cx="5499889" cy="457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defTabSz="914620">
              <a:defRPr sz="2400">
                <a:solidFill>
                  <a:srgbClr val="000000"/>
                </a:solidFill>
                <a:latin typeface="IBM Plex Sans Light"/>
              </a:defRPr>
            </a:lvl1pPr>
          </a:lstStyle>
          <a:p>
            <a:pPr>
              <a:spcBef>
                <a:spcPts val="599"/>
              </a:spcBef>
              <a:defRPr/>
            </a:pPr>
            <a:r>
              <a:rPr lang="en-US" b="1">
                <a:latin typeface="IBM Plex Sans SemiBold"/>
              </a:rPr>
              <a:t>IBM Social Impact GPT - LLAMA</a:t>
            </a:r>
            <a:endParaRPr/>
          </a:p>
        </p:txBody>
      </p:sp>
      <p:graphicFrame>
        <p:nvGraphicFramePr>
          <p:cNvPr id="836197039" name="Table 263"/>
          <p:cNvGraphicFramePr>
            <a:graphicFrameLocks xmlns:a="http://schemas.openxmlformats.org/drawingml/2006/main"/>
          </p:cNvGraphicFramePr>
          <p:nvPr/>
        </p:nvGraphicFramePr>
        <p:xfrm>
          <a:off x="7341174" y="1556822"/>
          <a:ext cx="4377123" cy="362809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55679"/>
                <a:gridCol w="3911919"/>
              </a:tblGrid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S#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IBM Plex Sans"/>
                        </a:rPr>
                        <a:t>Stage 1 Document Enrichment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0</a:t>
                      </a:r>
                      <a:endParaRPr lang="en-US" sz="1100"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Upload raw 10k documents to Discovery</a:t>
                      </a:r>
                      <a:endParaRPr lang="en-US" sz="1100"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1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Stage 1 search retrieval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2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Invoke LLM for generating inferences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3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Use the most suitable model for the task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4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Model response received by the service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5(a)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Gather enriched docs from stage 1 output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5(b)</a:t>
                      </a:r>
                      <a:endParaRPr lang="en-US" sz="1100"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Manually upload new, enriched 10k docs to Discovery</a:t>
                      </a:r>
                      <a:endParaRPr lang="en-US" sz="1100"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endParaRPr lang="en-US" sz="1100"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solidFill>
                      <a:srgbClr val="5884C0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IBM Plex Sans"/>
                        </a:rPr>
                        <a:t>Stage 2 RAG - Conversational Search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solidFill>
                      <a:srgbClr val="5884C0"/>
                    </a:solidFill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6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Questions from </a:t>
                      </a:r>
                      <a:r>
                        <a:rPr lang="en-US" sz="1100"/>
                        <a:t>ScaleWith</a:t>
                      </a:r>
                      <a:r>
                        <a:rPr lang="en-US" sz="1100"/>
                        <a:t> users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7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Stage 2 retrieval of uploaded enriched docs from Discovery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8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Invoke LLM for mapping inference 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3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Assistant uses its embedded LLM 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9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Response as inferred by </a:t>
                      </a:r>
                      <a:r>
                        <a:rPr lang="en-US" sz="1100"/>
                        <a:t>Watsonx</a:t>
                      </a:r>
                      <a:r>
                        <a:rPr lang="en-US" sz="1100"/>
                        <a:t> LLM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12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Response sent back to customer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549529456" name="Straight Arrow Connector 10"/>
          <p:cNvCxnSpPr>
            <a:cxnSpLocks/>
          </p:cNvCxnSpPr>
          <p:nvPr/>
        </p:nvCxnSpPr>
        <p:spPr bwMode="auto">
          <a:xfrm>
            <a:off x="5606854" y="3173005"/>
            <a:ext cx="649536" cy="23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051896" name="Elbow Connector 11"/>
          <p:cNvCxnSpPr>
            <a:cxnSpLocks/>
          </p:cNvCxnSpPr>
          <p:nvPr/>
        </p:nvCxnSpPr>
        <p:spPr bwMode="auto">
          <a:xfrm flipV="1">
            <a:off x="3085429" y="3183949"/>
            <a:ext cx="2083520" cy="130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0622447" name="TextBox 15"/>
          <p:cNvSpPr txBox="1"/>
          <p:nvPr/>
        </p:nvSpPr>
        <p:spPr bwMode="auto">
          <a:xfrm>
            <a:off x="-162316" y="691273"/>
            <a:ext cx="2015061" cy="27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>
                <a:latin typeface="IBM Plex Sans"/>
              </a:rPr>
              <a:t>Multi-stage RAG</a:t>
            </a:r>
            <a:endParaRPr/>
          </a:p>
        </p:txBody>
      </p:sp>
      <p:sp>
        <p:nvSpPr>
          <p:cNvPr id="685487718" name="TextBox 16"/>
          <p:cNvSpPr txBox="1"/>
          <p:nvPr/>
        </p:nvSpPr>
        <p:spPr bwMode="auto">
          <a:xfrm>
            <a:off x="4016196" y="3205045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2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528828494" name="TextBox 18"/>
          <p:cNvSpPr txBox="1"/>
          <p:nvPr/>
        </p:nvSpPr>
        <p:spPr bwMode="auto">
          <a:xfrm>
            <a:off x="5800842" y="3184965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1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1419283643" name="TextBox 19"/>
          <p:cNvSpPr txBox="1"/>
          <p:nvPr/>
        </p:nvSpPr>
        <p:spPr bwMode="auto">
          <a:xfrm>
            <a:off x="2767181" y="2303901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3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1313433242" name="TextBox 20"/>
          <p:cNvSpPr txBox="1"/>
          <p:nvPr/>
        </p:nvSpPr>
        <p:spPr bwMode="auto">
          <a:xfrm>
            <a:off x="4002946" y="2724656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4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324197265" name="TextBox 21"/>
          <p:cNvSpPr txBox="1"/>
          <p:nvPr/>
        </p:nvSpPr>
        <p:spPr bwMode="auto">
          <a:xfrm>
            <a:off x="5679231" y="1883792"/>
            <a:ext cx="519575" cy="2746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5(a)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cxnSp>
        <p:nvCxnSpPr>
          <p:cNvPr id="1268856295" name="Elbow Connector 22"/>
          <p:cNvCxnSpPr>
            <a:cxnSpLocks/>
          </p:cNvCxnSpPr>
          <p:nvPr/>
        </p:nvCxnSpPr>
        <p:spPr bwMode="auto">
          <a:xfrm flipV="1">
            <a:off x="3198193" y="3924334"/>
            <a:ext cx="3614272" cy="921649"/>
          </a:xfrm>
          <a:prstGeom prst="bentConnector3">
            <a:avLst>
              <a:gd name="adj1" fmla="val 100049"/>
            </a:avLst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25126" name="Straight Arrow Connector 32"/>
          <p:cNvCxnSpPr>
            <a:cxnSpLocks/>
          </p:cNvCxnSpPr>
          <p:nvPr/>
        </p:nvCxnSpPr>
        <p:spPr bwMode="auto">
          <a:xfrm flipH="1" flipV="1">
            <a:off x="2899800" y="3610010"/>
            <a:ext cx="1459" cy="749856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560599" name="Straight Arrow Connector 33"/>
          <p:cNvCxnSpPr>
            <a:cxnSpLocks/>
          </p:cNvCxnSpPr>
          <p:nvPr/>
        </p:nvCxnSpPr>
        <p:spPr bwMode="auto">
          <a:xfrm flipV="1">
            <a:off x="1070434" y="4844944"/>
            <a:ext cx="1282318" cy="8964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0820264" name="TextBox 35"/>
          <p:cNvSpPr txBox="1"/>
          <p:nvPr/>
        </p:nvSpPr>
        <p:spPr bwMode="auto">
          <a:xfrm>
            <a:off x="1541979" y="4374990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6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113713315" name="TextBox 37"/>
          <p:cNvSpPr txBox="1"/>
          <p:nvPr/>
        </p:nvSpPr>
        <p:spPr bwMode="auto">
          <a:xfrm>
            <a:off x="4796510" y="4897058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7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111945571" name="TextBox 38"/>
          <p:cNvSpPr txBox="1"/>
          <p:nvPr/>
        </p:nvSpPr>
        <p:spPr bwMode="auto">
          <a:xfrm>
            <a:off x="2871632" y="3899102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8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1803472953" name="TextBox 39"/>
          <p:cNvSpPr txBox="1"/>
          <p:nvPr/>
        </p:nvSpPr>
        <p:spPr bwMode="auto">
          <a:xfrm>
            <a:off x="2348172" y="3872601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9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1691858205" name="TextBox 40"/>
          <p:cNvSpPr txBox="1"/>
          <p:nvPr/>
        </p:nvSpPr>
        <p:spPr bwMode="auto">
          <a:xfrm>
            <a:off x="1615989" y="4859887"/>
            <a:ext cx="434733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10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cxnSp>
        <p:nvCxnSpPr>
          <p:cNvPr id="1885690244" name="Elbow Connector 138"/>
          <p:cNvCxnSpPr>
            <a:cxnSpLocks/>
          </p:cNvCxnSpPr>
          <p:nvPr/>
        </p:nvCxnSpPr>
        <p:spPr bwMode="auto">
          <a:xfrm rot="5399978" flipH="0" flipV="0">
            <a:off x="6053645" y="1973648"/>
            <a:ext cx="1417821" cy="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8041674" name="Picture 1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6446612" y="671807"/>
            <a:ext cx="480444" cy="592929"/>
          </a:xfrm>
          <a:prstGeom prst="rect">
            <a:avLst/>
          </a:prstGeom>
          <a:noFill/>
        </p:spPr>
      </p:pic>
      <p:sp>
        <p:nvSpPr>
          <p:cNvPr id="1189571489" name=""/>
          <p:cNvSpPr txBox="1"/>
          <p:nvPr/>
        </p:nvSpPr>
        <p:spPr bwMode="auto">
          <a:xfrm flipH="0" flipV="0">
            <a:off x="6273762" y="403734"/>
            <a:ext cx="238196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admin</a:t>
            </a:r>
            <a:endParaRPr/>
          </a:p>
        </p:txBody>
      </p:sp>
      <p:sp>
        <p:nvSpPr>
          <p:cNvPr id="384401945" name="TextBox 19"/>
          <p:cNvSpPr txBox="1"/>
          <p:nvPr/>
        </p:nvSpPr>
        <p:spPr bwMode="auto">
          <a:xfrm>
            <a:off x="6665154" y="1916488"/>
            <a:ext cx="341950" cy="2746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 0</a:t>
            </a:r>
            <a:r>
              <a:rPr lang="en-US" sz="1200">
                <a:solidFill>
                  <a:schemeClr val="tx1"/>
                </a:solidFill>
                <a:highlight>
                  <a:srgbClr val="0000FF"/>
                </a:highlight>
              </a:rPr>
              <a:t>-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41043004" name=""/>
          <p:cNvSpPr txBox="1"/>
          <p:nvPr/>
        </p:nvSpPr>
        <p:spPr bwMode="auto">
          <a:xfrm flipH="0" flipV="0">
            <a:off x="567305" y="4176101"/>
            <a:ext cx="74424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user</a:t>
            </a:r>
            <a:endParaRPr/>
          </a:p>
        </p:txBody>
      </p:sp>
      <p:cxnSp>
        <p:nvCxnSpPr>
          <p:cNvPr id="1077957278" name="Straight Arrow Connector 76"/>
          <p:cNvCxnSpPr>
            <a:cxnSpLocks/>
            <a:stCxn id="241232953" idx="0"/>
          </p:cNvCxnSpPr>
          <p:nvPr/>
        </p:nvCxnSpPr>
        <p:spPr bwMode="auto">
          <a:xfrm rot="16199969" flipH="0" flipV="1">
            <a:off x="5935195" y="1952600"/>
            <a:ext cx="1459918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4520215" name="TextBox 35"/>
          <p:cNvSpPr txBox="1"/>
          <p:nvPr/>
        </p:nvSpPr>
        <p:spPr bwMode="auto">
          <a:xfrm>
            <a:off x="6285823" y="1677920"/>
            <a:ext cx="526643" cy="2746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5(b)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81345793" name="Group 36"/>
          <p:cNvGrpSpPr/>
          <p:nvPr/>
        </p:nvGrpSpPr>
        <p:grpSpPr bwMode="auto">
          <a:xfrm>
            <a:off x="2377694" y="4359867"/>
            <a:ext cx="795654" cy="1239768"/>
            <a:chOff x="2651002" y="917447"/>
            <a:chExt cx="685800" cy="1044267"/>
          </a:xfrm>
        </p:grpSpPr>
        <p:pic>
          <p:nvPicPr>
            <p:cNvPr id="267784987" name="Picture 2"/>
            <p:cNvPicPr>
              <a:picLocks noChangeAspect="1" noChangeArrowheads="1"/>
            </p:cNvPicPr>
            <p:nvPr/>
          </p:nvPicPr>
          <p:blipFill>
            <a:blip r:embed="rId2"/>
            <a:stretch/>
          </p:blipFill>
          <p:spPr bwMode="auto">
            <a:xfrm>
              <a:off x="2651002" y="917447"/>
              <a:ext cx="685800" cy="685800"/>
            </a:xfrm>
            <a:prstGeom prst="rect">
              <a:avLst/>
            </a:prstGeom>
            <a:noFill/>
          </p:spPr>
        </p:pic>
        <p:sp>
          <p:nvSpPr>
            <p:cNvPr id="1202333564" name="TextBox 44"/>
            <p:cNvSpPr txBox="1"/>
            <p:nvPr/>
          </p:nvSpPr>
          <p:spPr bwMode="auto">
            <a:xfrm>
              <a:off x="2705323" y="1624699"/>
              <a:ext cx="617887" cy="337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US" sz="1000">
                  <a:latin typeface="IBM Plex Sans"/>
                </a:rPr>
                <a:t>Watson </a:t>
              </a:r>
              <a:endParaRPr/>
            </a:p>
            <a:p>
              <a:pPr algn="ctr">
                <a:defRPr/>
              </a:pPr>
              <a:r>
                <a:rPr lang="en-US" sz="1000">
                  <a:latin typeface="IBM Plex Sans"/>
                </a:rPr>
                <a:t>Assistant</a:t>
              </a:r>
              <a:endParaRPr/>
            </a:p>
          </p:txBody>
        </p:sp>
      </p:grpSp>
      <p:cxnSp>
        <p:nvCxnSpPr>
          <p:cNvPr id="1134061071" name="Straight Arrow Connector 76"/>
          <p:cNvCxnSpPr>
            <a:cxnSpLocks/>
          </p:cNvCxnSpPr>
          <p:nvPr/>
        </p:nvCxnSpPr>
        <p:spPr bwMode="auto">
          <a:xfrm flipH="1" flipV="1">
            <a:off x="2644855" y="3610010"/>
            <a:ext cx="1459" cy="74985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20283" name="Rectangle 97"/>
          <p:cNvSpPr/>
          <p:nvPr/>
        </p:nvSpPr>
        <p:spPr bwMode="auto">
          <a:xfrm>
            <a:off x="1125019" y="1298923"/>
            <a:ext cx="917418" cy="455946"/>
          </a:xfrm>
          <a:prstGeom prst="rect">
            <a:avLst/>
          </a:prstGeom>
          <a:solidFill>
            <a:srgbClr val="24A148"/>
          </a:solidFill>
          <a:ln w="19050">
            <a:solidFill>
              <a:srgbClr val="24A148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</a:rPr>
              <a:t>Model A</a:t>
            </a:r>
            <a:endParaRPr/>
          </a:p>
        </p:txBody>
      </p:sp>
      <p:sp>
        <p:nvSpPr>
          <p:cNvPr id="2121438343" name="Rectangle 102"/>
          <p:cNvSpPr/>
          <p:nvPr/>
        </p:nvSpPr>
        <p:spPr bwMode="auto">
          <a:xfrm>
            <a:off x="2336947" y="1298923"/>
            <a:ext cx="917418" cy="455946"/>
          </a:xfrm>
          <a:prstGeom prst="rect">
            <a:avLst/>
          </a:prstGeom>
          <a:solidFill>
            <a:srgbClr val="24A148"/>
          </a:solidFill>
          <a:ln w="19050">
            <a:solidFill>
              <a:srgbClr val="24A148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</a:rPr>
              <a:t>Model B</a:t>
            </a:r>
            <a:endParaRPr/>
          </a:p>
        </p:txBody>
      </p:sp>
      <p:sp>
        <p:nvSpPr>
          <p:cNvPr id="199422423" name="Rectangle 104"/>
          <p:cNvSpPr/>
          <p:nvPr/>
        </p:nvSpPr>
        <p:spPr bwMode="auto">
          <a:xfrm>
            <a:off x="3606561" y="1296578"/>
            <a:ext cx="917418" cy="455946"/>
          </a:xfrm>
          <a:prstGeom prst="rect">
            <a:avLst/>
          </a:prstGeom>
          <a:solidFill>
            <a:srgbClr val="24A148"/>
          </a:solidFill>
          <a:ln w="19050">
            <a:solidFill>
              <a:srgbClr val="24A148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chemeClr val="bg1"/>
                </a:solidFill>
              </a:rPr>
              <a:t>Model C</a:t>
            </a:r>
            <a:endParaRPr/>
          </a:p>
        </p:txBody>
      </p:sp>
      <p:pic>
        <p:nvPicPr>
          <p:cNvPr id="1328838638" name="Picture 1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614930" y="4479462"/>
            <a:ext cx="480444" cy="592929"/>
          </a:xfrm>
          <a:prstGeom prst="rect">
            <a:avLst/>
          </a:prstGeom>
          <a:noFill/>
        </p:spPr>
      </p:pic>
      <p:cxnSp>
        <p:nvCxnSpPr>
          <p:cNvPr id="1729920825" name="Straight Arrow Connector 120"/>
          <p:cNvCxnSpPr>
            <a:cxnSpLocks/>
          </p:cNvCxnSpPr>
          <p:nvPr/>
        </p:nvCxnSpPr>
        <p:spPr bwMode="auto">
          <a:xfrm flipV="1">
            <a:off x="1090314" y="4654978"/>
            <a:ext cx="1282318" cy="8964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1547709" name="Group 127"/>
          <p:cNvGrpSpPr/>
          <p:nvPr/>
        </p:nvGrpSpPr>
        <p:grpSpPr bwMode="auto">
          <a:xfrm>
            <a:off x="6273763" y="2682559"/>
            <a:ext cx="795654" cy="1218978"/>
            <a:chOff x="7650936" y="2941759"/>
            <a:chExt cx="685800" cy="1026756"/>
          </a:xfrm>
        </p:grpSpPr>
        <p:pic>
          <p:nvPicPr>
            <p:cNvPr id="153345146" name="Picture 4"/>
            <p:cNvPicPr>
              <a:picLocks noChangeAspect="1" noChangeArrowheads="1"/>
            </p:cNvPicPr>
            <p:nvPr/>
          </p:nvPicPr>
          <p:blipFill>
            <a:blip r:embed="rId4"/>
            <a:stretch/>
          </p:blipFill>
          <p:spPr bwMode="auto">
            <a:xfrm>
              <a:off x="7650936" y="2941759"/>
              <a:ext cx="685800" cy="685800"/>
            </a:xfrm>
            <a:prstGeom prst="rect">
              <a:avLst/>
            </a:prstGeom>
            <a:noFill/>
          </p:spPr>
        </p:pic>
        <p:sp>
          <p:nvSpPr>
            <p:cNvPr id="515342238" name="TextBox 129"/>
            <p:cNvSpPr txBox="1"/>
            <p:nvPr/>
          </p:nvSpPr>
          <p:spPr bwMode="auto">
            <a:xfrm>
              <a:off x="7687618" y="3631500"/>
              <a:ext cx="642757" cy="3370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defRPr/>
              </a:pPr>
              <a:r>
                <a:rPr lang="en-US" sz="1000">
                  <a:latin typeface="IBM Plex Sans"/>
                </a:rPr>
                <a:t>Watson</a:t>
              </a:r>
              <a:endParaRPr/>
            </a:p>
            <a:p>
              <a:pPr algn="ctr">
                <a:defRPr/>
              </a:pPr>
              <a:r>
                <a:rPr lang="en-US" sz="1000">
                  <a:latin typeface="IBM Plex Sans"/>
                </a:rPr>
                <a:t>Discovery</a:t>
              </a:r>
              <a:endParaRPr/>
            </a:p>
          </p:txBody>
        </p:sp>
      </p:grpSp>
      <p:cxnSp>
        <p:nvCxnSpPr>
          <p:cNvPr id="1250105437" name="Straight Arrow Connector 131"/>
          <p:cNvCxnSpPr>
            <a:cxnSpLocks/>
          </p:cNvCxnSpPr>
          <p:nvPr/>
        </p:nvCxnSpPr>
        <p:spPr bwMode="auto">
          <a:xfrm flipH="0" flipV="1">
            <a:off x="5549531" y="1154905"/>
            <a:ext cx="897080" cy="1797843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395002" name="Elbow Connector 138"/>
          <p:cNvCxnSpPr>
            <a:cxnSpLocks/>
          </p:cNvCxnSpPr>
          <p:nvPr/>
        </p:nvCxnSpPr>
        <p:spPr bwMode="auto">
          <a:xfrm flipV="1">
            <a:off x="3083504" y="3008399"/>
            <a:ext cx="2083520" cy="130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8919604" name="TextBox 155"/>
          <p:cNvSpPr txBox="1"/>
          <p:nvPr/>
        </p:nvSpPr>
        <p:spPr bwMode="auto">
          <a:xfrm>
            <a:off x="2251136" y="3363789"/>
            <a:ext cx="1045851" cy="246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latin typeface="IBM Plex Sans"/>
              </a:rPr>
              <a:t>watsonx.ai</a:t>
            </a:r>
            <a:endParaRPr lang="en-US" sz="1000">
              <a:latin typeface="IBM Plex Sans"/>
            </a:endParaRPr>
          </a:p>
        </p:txBody>
      </p:sp>
      <p:cxnSp>
        <p:nvCxnSpPr>
          <p:cNvPr id="556983699" name="Elbow Connector 170"/>
          <p:cNvCxnSpPr>
            <a:cxnSpLocks/>
            <a:stCxn id="103020283" idx="2"/>
            <a:endCxn id="492286332" idx="0"/>
          </p:cNvCxnSpPr>
          <p:nvPr/>
        </p:nvCxnSpPr>
        <p:spPr bwMode="auto">
          <a:xfrm rot="16199969" flipH="1">
            <a:off x="1664262" y="1674336"/>
            <a:ext cx="1049916" cy="121098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headEnd type="stealt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663025" name="Elbow Connector 171"/>
          <p:cNvCxnSpPr>
            <a:cxnSpLocks/>
            <a:stCxn id="199422423" idx="2"/>
            <a:endCxn id="492286332" idx="0"/>
          </p:cNvCxnSpPr>
          <p:nvPr/>
        </p:nvCxnSpPr>
        <p:spPr bwMode="auto">
          <a:xfrm rot="5399978">
            <a:off x="2903860" y="1643377"/>
            <a:ext cx="1052262" cy="127055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headEnd type="arrow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661231" name="Straight Arrow Connector 175"/>
          <p:cNvCxnSpPr>
            <a:cxnSpLocks/>
            <a:stCxn id="2121438343" idx="2"/>
            <a:endCxn id="492286332" idx="0"/>
          </p:cNvCxnSpPr>
          <p:nvPr/>
        </p:nvCxnSpPr>
        <p:spPr bwMode="auto">
          <a:xfrm flipH="1">
            <a:off x="2794712" y="1754870"/>
            <a:ext cx="945" cy="104991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9815498" name="Picture 4" descr="Services Icon Png #65899 - Free Icons Library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5167026" y="2860824"/>
            <a:ext cx="457200" cy="457200"/>
          </a:xfrm>
          <a:prstGeom prst="rect">
            <a:avLst/>
          </a:prstGeom>
          <a:noFill/>
        </p:spPr>
      </p:pic>
      <p:sp>
        <p:nvSpPr>
          <p:cNvPr id="858763364" name="TextBox 6"/>
          <p:cNvSpPr txBox="1"/>
          <p:nvPr/>
        </p:nvSpPr>
        <p:spPr bwMode="auto">
          <a:xfrm>
            <a:off x="4897363" y="3318763"/>
            <a:ext cx="1055931" cy="2441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>
                <a:latin typeface="IBM Plex Sans"/>
              </a:rPr>
              <a:t>Stage 1 code</a:t>
            </a:r>
            <a:endParaRPr/>
          </a:p>
        </p:txBody>
      </p:sp>
      <p:pic>
        <p:nvPicPr>
          <p:cNvPr id="492286332" name="Picture 7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2505920" y="2804787"/>
            <a:ext cx="577584" cy="571893"/>
          </a:xfrm>
          <a:prstGeom prst="rect">
            <a:avLst/>
          </a:prstGeom>
        </p:spPr>
      </p:pic>
      <p:sp>
        <p:nvSpPr>
          <p:cNvPr id="232393498" name="Title 1"/>
          <p:cNvSpPr txBox="1"/>
          <p:nvPr/>
        </p:nvSpPr>
        <p:spPr bwMode="auto">
          <a:xfrm flipH="0" flipV="0">
            <a:off x="125055" y="175134"/>
            <a:ext cx="5503129" cy="4575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defTabSz="914620">
              <a:defRPr sz="2400">
                <a:solidFill>
                  <a:srgbClr val="000000"/>
                </a:solidFill>
                <a:latin typeface="IBM Plex Sans Light"/>
              </a:defRPr>
            </a:lvl1pPr>
          </a:lstStyle>
          <a:p>
            <a:pPr>
              <a:spcBef>
                <a:spcPts val="599"/>
              </a:spcBef>
              <a:defRPr/>
            </a:pPr>
            <a:r>
              <a:rPr lang="en-US" b="1">
                <a:latin typeface="IBM Plex Sans SemiBold"/>
              </a:rPr>
              <a:t>IBM Social Impact GPT - GPT 3.5/4</a:t>
            </a:r>
            <a:endParaRPr/>
          </a:p>
        </p:txBody>
      </p:sp>
      <p:graphicFrame>
        <p:nvGraphicFramePr>
          <p:cNvPr id="1621059658" name="Table 263"/>
          <p:cNvGraphicFramePr>
            <a:graphicFrameLocks xmlns:a="http://schemas.openxmlformats.org/drawingml/2006/main"/>
          </p:cNvGraphicFramePr>
          <p:nvPr/>
        </p:nvGraphicFramePr>
        <p:xfrm>
          <a:off x="7341174" y="1556822"/>
          <a:ext cx="4377123" cy="362809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55679"/>
                <a:gridCol w="3911919"/>
              </a:tblGrid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900">
                          <a:solidFill>
                            <a:schemeClr val="bg1"/>
                          </a:solidFill>
                        </a:rPr>
                        <a:t>S#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IBM Plex Sans"/>
                        </a:rPr>
                        <a:t>Stage 1 Document Enrichment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0</a:t>
                      </a:r>
                      <a:endParaRPr lang="en-US" sz="1100"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Upload raw 10k documents to Discovery</a:t>
                      </a:r>
                      <a:endParaRPr lang="en-US" sz="1100"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1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Stage 1 search retrieval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2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Invoke LLM for generating inferences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3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Use the most suitable model for the task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4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Model response received by the service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5(a)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Gather enriched docs from stage 1 output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5(b)</a:t>
                      </a:r>
                      <a:endParaRPr lang="en-US" sz="1100"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Manually upload new, enriched 10k docs to Discovery</a:t>
                      </a:r>
                      <a:endParaRPr lang="en-US" sz="1100"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endParaRPr lang="en-US" sz="1100"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solidFill>
                      <a:srgbClr val="5884C0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  <a:latin typeface="IBM Plex Sans"/>
                        </a:rPr>
                        <a:t>Stage 2 RAG - Conversational Search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solidFill>
                      <a:srgbClr val="5884C0"/>
                    </a:solidFill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6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Questions from </a:t>
                      </a:r>
                      <a:r>
                        <a:rPr lang="en-US" sz="1100"/>
                        <a:t>ScaleWith</a:t>
                      </a:r>
                      <a:r>
                        <a:rPr lang="en-US" sz="1100"/>
                        <a:t> users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7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Stage 2 retrieval of uploaded enriched docs from Discovery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8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Invoke LLM for mapping inference 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3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Assistant uses its embedded LLM 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9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Response as inferred by </a:t>
                      </a:r>
                      <a:r>
                        <a:rPr lang="en-US" sz="1100"/>
                        <a:t>Watsonx</a:t>
                      </a:r>
                      <a:r>
                        <a:rPr lang="en-US" sz="1100"/>
                        <a:t> LLM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258469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12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100"/>
                        <a:t>Response sent back to customer</a:t>
                      </a:r>
                      <a:endParaRPr/>
                    </a:p>
                  </a:txBody>
                  <a:tcPr marL="91440" marR="91440" marT="25805" marB="25805">
                    <a:lnL w="9524" algn="ctr">
                      <a:solidFill>
                        <a:schemeClr val="tx1"/>
                      </a:solidFill>
                    </a:lnL>
                    <a:lnR w="9524" algn="ctr">
                      <a:solidFill>
                        <a:schemeClr val="tx1"/>
                      </a:solidFill>
                    </a:lnR>
                    <a:lnT w="9524" algn="ctr">
                      <a:solidFill>
                        <a:schemeClr val="tx1"/>
                      </a:solidFill>
                    </a:lnT>
                    <a:lnB w="9524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22872925" name="Straight Arrow Connector 10"/>
          <p:cNvCxnSpPr>
            <a:cxnSpLocks/>
          </p:cNvCxnSpPr>
          <p:nvPr/>
        </p:nvCxnSpPr>
        <p:spPr bwMode="auto">
          <a:xfrm>
            <a:off x="5606854" y="3173005"/>
            <a:ext cx="649536" cy="23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1149857" name="Elbow Connector 11"/>
          <p:cNvCxnSpPr>
            <a:cxnSpLocks/>
          </p:cNvCxnSpPr>
          <p:nvPr/>
        </p:nvCxnSpPr>
        <p:spPr bwMode="auto">
          <a:xfrm flipV="1">
            <a:off x="3085429" y="3183949"/>
            <a:ext cx="2083520" cy="130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121992" name="TextBox 15"/>
          <p:cNvSpPr txBox="1"/>
          <p:nvPr/>
        </p:nvSpPr>
        <p:spPr bwMode="auto">
          <a:xfrm>
            <a:off x="-162316" y="691273"/>
            <a:ext cx="2015061" cy="276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>
                <a:latin typeface="IBM Plex Sans"/>
              </a:rPr>
              <a:t>Multi-stage RAG</a:t>
            </a:r>
            <a:endParaRPr/>
          </a:p>
        </p:txBody>
      </p:sp>
      <p:sp>
        <p:nvSpPr>
          <p:cNvPr id="154907160" name="TextBox 16"/>
          <p:cNvSpPr txBox="1"/>
          <p:nvPr/>
        </p:nvSpPr>
        <p:spPr bwMode="auto">
          <a:xfrm>
            <a:off x="4016196" y="3205045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2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1628921057" name="TextBox 18"/>
          <p:cNvSpPr txBox="1"/>
          <p:nvPr/>
        </p:nvSpPr>
        <p:spPr bwMode="auto">
          <a:xfrm>
            <a:off x="5800842" y="3184965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1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1205041587" name="TextBox 19"/>
          <p:cNvSpPr txBox="1"/>
          <p:nvPr/>
        </p:nvSpPr>
        <p:spPr bwMode="auto">
          <a:xfrm>
            <a:off x="2767181" y="2303901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3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748073781" name="TextBox 20"/>
          <p:cNvSpPr txBox="1"/>
          <p:nvPr/>
        </p:nvSpPr>
        <p:spPr bwMode="auto">
          <a:xfrm>
            <a:off x="4002946" y="2724656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4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1867072364" name="TextBox 21"/>
          <p:cNvSpPr txBox="1"/>
          <p:nvPr/>
        </p:nvSpPr>
        <p:spPr bwMode="auto">
          <a:xfrm>
            <a:off x="5679231" y="1883792"/>
            <a:ext cx="519575" cy="2746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5(a)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cxnSp>
        <p:nvCxnSpPr>
          <p:cNvPr id="980668652" name="Elbow Connector 22"/>
          <p:cNvCxnSpPr>
            <a:cxnSpLocks/>
          </p:cNvCxnSpPr>
          <p:nvPr/>
        </p:nvCxnSpPr>
        <p:spPr bwMode="auto">
          <a:xfrm flipV="1">
            <a:off x="3198193" y="3924334"/>
            <a:ext cx="3614272" cy="921649"/>
          </a:xfrm>
          <a:prstGeom prst="bentConnector3">
            <a:avLst>
              <a:gd name="adj1" fmla="val 100049"/>
            </a:avLst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833082" name="Straight Arrow Connector 32"/>
          <p:cNvCxnSpPr>
            <a:cxnSpLocks/>
          </p:cNvCxnSpPr>
          <p:nvPr/>
        </p:nvCxnSpPr>
        <p:spPr bwMode="auto">
          <a:xfrm flipH="1" flipV="1">
            <a:off x="2899800" y="3610010"/>
            <a:ext cx="1459" cy="749856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5457896" name="Straight Arrow Connector 33"/>
          <p:cNvCxnSpPr>
            <a:cxnSpLocks/>
          </p:cNvCxnSpPr>
          <p:nvPr/>
        </p:nvCxnSpPr>
        <p:spPr bwMode="auto">
          <a:xfrm flipV="1">
            <a:off x="1070434" y="4844944"/>
            <a:ext cx="1282318" cy="8964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2136067" name="TextBox 35"/>
          <p:cNvSpPr txBox="1"/>
          <p:nvPr/>
        </p:nvSpPr>
        <p:spPr bwMode="auto">
          <a:xfrm>
            <a:off x="1541979" y="4374990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6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1509411337" name="TextBox 37"/>
          <p:cNvSpPr txBox="1"/>
          <p:nvPr/>
        </p:nvSpPr>
        <p:spPr bwMode="auto">
          <a:xfrm>
            <a:off x="4796510" y="4897058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7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803809876" name="TextBox 38"/>
          <p:cNvSpPr txBox="1"/>
          <p:nvPr/>
        </p:nvSpPr>
        <p:spPr bwMode="auto">
          <a:xfrm>
            <a:off x="2871632" y="3899102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8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479218829" name="TextBox 39"/>
          <p:cNvSpPr txBox="1"/>
          <p:nvPr/>
        </p:nvSpPr>
        <p:spPr bwMode="auto">
          <a:xfrm>
            <a:off x="2348172" y="3872601"/>
            <a:ext cx="356187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9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sp>
        <p:nvSpPr>
          <p:cNvPr id="259886357" name="TextBox 40"/>
          <p:cNvSpPr txBox="1"/>
          <p:nvPr/>
        </p:nvSpPr>
        <p:spPr bwMode="auto">
          <a:xfrm>
            <a:off x="1615989" y="4859887"/>
            <a:ext cx="434733" cy="276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10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  <p:cxnSp>
        <p:nvCxnSpPr>
          <p:cNvPr id="862319342" name="Elbow Connector 138"/>
          <p:cNvCxnSpPr>
            <a:cxnSpLocks/>
          </p:cNvCxnSpPr>
          <p:nvPr/>
        </p:nvCxnSpPr>
        <p:spPr bwMode="auto">
          <a:xfrm rot="5399978" flipH="0" flipV="0">
            <a:off x="6053645" y="1973648"/>
            <a:ext cx="1417821" cy="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1453706" name="Picture 1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6446612" y="671807"/>
            <a:ext cx="480444" cy="592929"/>
          </a:xfrm>
          <a:prstGeom prst="rect">
            <a:avLst/>
          </a:prstGeom>
          <a:noFill/>
        </p:spPr>
      </p:pic>
      <p:sp>
        <p:nvSpPr>
          <p:cNvPr id="2031533170" name=""/>
          <p:cNvSpPr txBox="1"/>
          <p:nvPr/>
        </p:nvSpPr>
        <p:spPr bwMode="auto">
          <a:xfrm flipH="0" flipV="0">
            <a:off x="6273762" y="403734"/>
            <a:ext cx="238196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admin</a:t>
            </a:r>
            <a:endParaRPr/>
          </a:p>
        </p:txBody>
      </p:sp>
      <p:sp>
        <p:nvSpPr>
          <p:cNvPr id="1667749392" name="TextBox 19"/>
          <p:cNvSpPr txBox="1"/>
          <p:nvPr/>
        </p:nvSpPr>
        <p:spPr bwMode="auto">
          <a:xfrm>
            <a:off x="6665154" y="1916488"/>
            <a:ext cx="341950" cy="2746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 0</a:t>
            </a:r>
            <a:r>
              <a:rPr lang="en-US" sz="1200">
                <a:solidFill>
                  <a:schemeClr val="tx1"/>
                </a:solidFill>
                <a:highlight>
                  <a:srgbClr val="0000FF"/>
                </a:highlight>
              </a:rPr>
              <a:t>-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67505788" name=""/>
          <p:cNvSpPr txBox="1"/>
          <p:nvPr/>
        </p:nvSpPr>
        <p:spPr bwMode="auto">
          <a:xfrm flipH="0" flipV="0">
            <a:off x="567305" y="4176101"/>
            <a:ext cx="74424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user</a:t>
            </a:r>
            <a:endParaRPr/>
          </a:p>
        </p:txBody>
      </p:sp>
      <p:cxnSp>
        <p:nvCxnSpPr>
          <p:cNvPr id="1105202848" name="Straight Arrow Connector 76"/>
          <p:cNvCxnSpPr>
            <a:cxnSpLocks/>
            <a:stCxn id="153345146" idx="0"/>
          </p:cNvCxnSpPr>
          <p:nvPr/>
        </p:nvCxnSpPr>
        <p:spPr bwMode="auto">
          <a:xfrm rot="16199969" flipH="0" flipV="1">
            <a:off x="5935195" y="1952600"/>
            <a:ext cx="1459918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796764" name="TextBox 35"/>
          <p:cNvSpPr txBox="1"/>
          <p:nvPr/>
        </p:nvSpPr>
        <p:spPr bwMode="auto">
          <a:xfrm>
            <a:off x="6285823" y="1677920"/>
            <a:ext cx="526643" cy="2746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200">
                <a:solidFill>
                  <a:srgbClr val="002060"/>
                </a:solidFill>
                <a:highlight>
                  <a:srgbClr val="0000FF"/>
                </a:highlight>
              </a:rPr>
              <a:t>-</a:t>
            </a:r>
            <a:r>
              <a:rPr lang="en-US" sz="1200">
                <a:solidFill>
                  <a:schemeClr val="bg1"/>
                </a:solidFill>
                <a:highlight>
                  <a:srgbClr val="0000FF"/>
                </a:highlight>
              </a:rPr>
              <a:t>5(b)</a:t>
            </a:r>
            <a:r>
              <a:rPr lang="en-US" sz="1200">
                <a:highlight>
                  <a:srgbClr val="0000FF"/>
                </a:highlight>
              </a:rPr>
              <a:t>-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ONLYOFFICE/7.3.3.50</Application>
  <DocSecurity>0</DocSecurity>
  <PresentationFormat>Widescreen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Giuliana Fiacadori</dc:creator>
  <cp:keywords/>
  <dc:description/>
  <dc:identifier/>
  <dc:language/>
  <cp:lastModifiedBy/>
  <cp:revision>389</cp:revision>
  <dcterms:created xsi:type="dcterms:W3CDTF">2021-07-06T13:03:49Z</dcterms:created>
  <dcterms:modified xsi:type="dcterms:W3CDTF">2023-12-07T17:28:14Z</dcterms:modified>
  <cp:category/>
  <cp:contentStatus/>
  <cp:version/>
</cp:coreProperties>
</file>